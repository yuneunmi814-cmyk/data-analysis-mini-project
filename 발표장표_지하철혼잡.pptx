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제언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출퇴근, 혼잡도 사고도</a:t>
            </a:r>
            <a:endParaRPr lang="en-US" sz="4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곳에 몰린다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34290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데이터 분석과 정책 제언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1~9호선 · 2015–2026 · 대상: 정책입안자(서울교통공사·국회 국토교통위)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82,352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7724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승하차 데이터 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2,837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34340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5년 사고 건수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271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0956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대상 역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정의 · 바바라 민토 SCQA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평소 혼잡한 곳에 사고가 겹치면 '안전 위협'이 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039112"/>
            <a:ext cx="676656" cy="676656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04672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2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4672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급감한 수요가 2024년 2019년의 91%까지 회복 → 출퇴근 혼잡 재심화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46704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02736" y="2039112"/>
            <a:ext cx="676656" cy="676656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3602736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602736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02736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혼잡한 노선·시간대에 사고·급정차가 겹치면 혼잡 폭증 → 안전 위험 (2025.7 2호선·8 4호선 출근 사고)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2039112"/>
            <a:ext cx="676656" cy="676656"/>
          </a:xfrm>
          <a:prstGeom prst="ellipse">
            <a:avLst/>
          </a:prstGeom>
          <a:solidFill>
            <a:srgbClr val="0F2B4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00800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어느 노선·역·시간대가 '사고 시 가장 위험한 취약 지점'인가?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942832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98864" y="2039112"/>
            <a:ext cx="676656" cy="676656"/>
          </a:xfrm>
          <a:prstGeom prst="ellipse">
            <a:avLst/>
          </a:prstGeom>
          <a:solidFill>
            <a:srgbClr val="009E73"/>
          </a:solidFill>
          <a:ln/>
        </p:spPr>
      </p:sp>
      <p:sp>
        <p:nvSpPr>
          <p:cNvPr id="26" name="Text 24"/>
          <p:cNvSpPr/>
          <p:nvPr/>
        </p:nvSpPr>
        <p:spPr>
          <a:xfrm>
            <a:off x="9198864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198864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E7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98864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2호선·도심·출퇴근에 혼잡·사고 동시 집중 → 취약 지점 우선 투자 + 사고·수요 대응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질문의 답(결론)을 먼저 제시하고, 근거로 입증한다 →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결론 (먼저 말합니다)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혼잡·사고는 무작위가 아니라 '예측 가능한 축'에 집중된다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187452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 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2호선·도심·출퇴근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집중된다. → 분산 투자 대신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취약 지점 우선 투자 + 사고·수요 대응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 투트랙으로 전환하라.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54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결론을 떠받치는 6개 근거 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 압도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η²=.28 大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04872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04872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404872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50592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08·18시 쌍봉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50592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 피크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1104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61104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61104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306824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상위10% 28.5%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06824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도심 집중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17336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117336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63056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08시·34.4%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63056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 2.6배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73568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973568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973568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역유형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19288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3가지 분류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19288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업무/주거/상시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829800" y="3611880"/>
            <a:ext cx="1737360" cy="17830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829800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29800" y="4087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875520" y="44531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56.5%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875520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+81%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문제의 심각성 · 안전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출근길 혼잡은 '압사 위험' 수준이다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6.6명/㎡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03504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구로역 혼잡도 252%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이태원 참사 밀집도 수준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15968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15968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200%+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370832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김포골드라인 출근 혼잡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(수년째 개선 안 됨)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83296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083296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170%↑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38160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 불가·얼굴 밀착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(150%면 어깨 부딪침)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1737360"/>
          </a:xfrm>
          <a:prstGeom prst="roundRect">
            <a:avLst>
              <a:gd name="adj" fmla="val 3684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출근길 사고 (한 달 새 반복)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1605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2025.7.4  2호선 서울대입구역 신호장애 → 약 4시간 운행 차질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2025.8.4  4호선 평촌역 전기 장애 → 350명 환승, 7개 열차 지연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혼잡한 노선·출근 피크에 사고 발생 → 평시 혼잡 = 사고 취약성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01 · 이용객 추이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–27% 급감 후 빠르게 재혼잡 (2024년 91% 회복)</a:t>
            </a:r>
            <a:endParaRPr lang="en-US" sz="2200" dirty="0"/>
          </a:p>
        </p:txBody>
      </p:sp>
      <p:pic>
        <p:nvPicPr>
          <p:cNvPr id="9" name="Image 0" descr="/Users/yoon/Documents/데이터분석/charts/근거1_연도추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–27.4%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2020 코로나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E7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91%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 회복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수요가 다시 출퇴근에 집중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평시 부하↑ → 사고 시 위험↑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회복된 수요 = 혼잡·사고 리스크 재상승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02 · 호선별 비교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혼잡은 2호선에 집중 — 유의할 뿐 아니라 효과도 크다</a:t>
            </a:r>
            <a:endParaRPr lang="en-US" sz="2200" dirty="0"/>
          </a:p>
        </p:txBody>
      </p:sp>
      <p:pic>
        <p:nvPicPr>
          <p:cNvPr id="9" name="Image 0" descr="/Users/yoon/Documents/데이터분석/charts/근거2_호선Top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η²=0.28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大 효과(28% 설명)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2호선&gt;6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Tukey 사후검정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ANOVA F=14.8, p&lt;.001 (Welch 보정 후도 유의)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2호선이 8개 중 6개 호선보다 유의하게 많음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2호선 우선 투자 근거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통계적 유의 + 실질 효과(η²=.28) 모두 충족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03 · 시간대 패턴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08시·퇴근 18시 — 뾰족한 출퇴근 쌍봉 피크</a:t>
            </a:r>
            <a:endParaRPr lang="en-US" sz="2200" dirty="0"/>
          </a:p>
        </p:txBody>
      </p:sp>
      <p:pic>
        <p:nvPicPr>
          <p:cNvPr id="9" name="Image 0" descr="/Users/yoon/Documents/데이터분석/charts/근거3_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하차피크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2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18시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퇴근 승차피크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유입형(업무): 시청·종각·광화문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유출형(주거): 외곽역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피크 분산이 핵심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 분산 정책은 08·18시 두 봉우리를 겨냥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04 · 공간 분포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10% 역이 전체의 28.5% — 도심·강남권 집중</a:t>
            </a:r>
            <a:endParaRPr lang="en-US" sz="2200" dirty="0"/>
          </a:p>
        </p:txBody>
      </p:sp>
      <p:pic>
        <p:nvPicPr>
          <p:cNvPr id="9" name="Image 0" descr="/Users/yoon/Documents/데이터분석/charts/근거4_지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28.5%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상위10% 역 집중도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Top: 잠실·서울역·고속터미널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홍대입구·강남 (환승 허브)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소수 지점 집중 관리 가능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혼잡은 소수 핫스팟에 집중 → 집중 투자가 효율적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05 · 사고 분석 (5년 2,837건)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사고도 같은 시간에 몰린다 — 출근 사고율이 2.65배</a:t>
            </a:r>
            <a:endParaRPr lang="en-US" sz="2200" dirty="0"/>
          </a:p>
        </p:txBody>
      </p:sp>
      <p:pic>
        <p:nvPicPr>
          <p:cNvPr id="9" name="Image 0" descr="/Users/yoon/Documents/데이터분석/charts/근거5_사고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2.65배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시간당 사고율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(포아송, 비피크 대비)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34.4%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 4시간 집중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 사고 374건 최다, 퇴근 2.50배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+81% 증가(2021→2024)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 75%가 혼잡 직결(출입문·역구내·열차내)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2960" y="5559552"/>
            <a:ext cx="8348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시간대 = 사고 다발 시간대, 데이터로 확증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262872" y="56144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2C14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+81%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262872" y="60350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증가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06 · 역 유형 (K-means 군집)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역은 업무지구형·주거형·상시형 3가지로 나뉜다</a:t>
            </a:r>
            <a:endParaRPr lang="en-US" sz="2200" dirty="0"/>
          </a:p>
        </p:txBody>
      </p:sp>
      <p:pic>
        <p:nvPicPr>
          <p:cNvPr id="9" name="Image 0" descr="/Users/yoon/Documents/데이터분석/charts/근거6_군집패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7315200" cy="2834640"/>
          </a:xfrm>
          <a:prstGeom prst="rect">
            <a:avLst/>
          </a:prstGeom>
        </p:spPr>
      </p:pic>
      <p:pic>
        <p:nvPicPr>
          <p:cNvPr id="10" name="Image 1" descr="/Users/yoon/Documents/데이터분석/charts/근거6_군집지도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1691640"/>
            <a:ext cx="4023360" cy="4023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54296"/>
            <a:ext cx="146304" cy="146304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" y="461772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🏢 업무지구형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50역 · 강남·여의도·종로 (아침 하차↑)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5038344"/>
            <a:ext cx="146304" cy="146304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14" name="Text 10"/>
          <p:cNvSpPr/>
          <p:nvPr/>
        </p:nvSpPr>
        <p:spPr>
          <a:xfrm>
            <a:off x="804672" y="500176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2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🏠 주거형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131역 · 신림·구로·신도림 (아침 승차↑)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422392"/>
            <a:ext cx="146304" cy="146304"/>
          </a:xfrm>
          <a:prstGeom prst="ellipse">
            <a:avLst/>
          </a:prstGeom>
          <a:solidFill>
            <a:srgbClr val="009E73"/>
          </a:solidFill>
          <a:ln/>
        </p:spPr>
      </p:sp>
      <p:sp>
        <p:nvSpPr>
          <p:cNvPr id="16" name="Text 12"/>
          <p:cNvSpPr/>
          <p:nvPr/>
        </p:nvSpPr>
        <p:spPr>
          <a:xfrm>
            <a:off x="804672" y="5385816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E7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🔄 상시·환승형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76역 · 잠실·서울역·고속터미널 (종일)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대책은 역마다가 아니라 '유형별 맞춤'으로 — 업무형=출구/하차, 주거형=배차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8972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원인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반복되나 — 노후 설비가 사고·장애를 키운다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56.5%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03504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21년 이상 노후 전동차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(기대수명 25~30년)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15968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15968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69.5%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370832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내구연한 초과 전선로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(케이블 3,158km)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83296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083296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+5.4%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38160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운행장애 증가('23년 136건)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신호장애 +31%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1737360"/>
          </a:xfrm>
          <a:prstGeom prst="roundRect">
            <a:avLst>
              <a:gd name="adj" fmla="val 3684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노후가 장애의 절반 이상 — 교체는 진행 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1605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운행장애 원인: 차량 32.6% + 신호 20.9% = 절반 이상이 노후 설비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전동차 교체: 2029년까지 총 3조 8,506억원 투입(진행 중)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559552"/>
            <a:ext cx="8348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설비 = 사고의 구조적 뿌리 → 예방정비·교체 예산이 근본 대책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62872" y="56144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2C14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3.85조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62872" y="60350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교체 예산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14984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취약 지점에 우선 투자 + 사고·수요 대응 — 투트랙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783080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0F2B4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🚇 서울교통공사 (운영·실행)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집중역·역유형별 맞춤 혼잡 관리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사고·급정차 시 비상 혼잡 대응 프로토콜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신호·전기 설비 예방정비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 동선·승강설비 개선, 피크 증차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45352" y="1783080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45352" y="1783080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D55E00"/>
          </a:solidFill>
          <a:ln/>
        </p:spPr>
      </p:sp>
      <p:sp>
        <p:nvSpPr>
          <p:cNvPr id="15" name="Text 13"/>
          <p:cNvSpPr/>
          <p:nvPr/>
        </p:nvSpPr>
        <p:spPr>
          <a:xfrm>
            <a:off x="6519672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🏛️ 국회 국토교통위 (입법·예산)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65392" y="27432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시차출퇴근·유연근무 인센티브 (수요 분산)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신호·전동차 교체 예산 확보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이상상황 대응 기준 법제화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광역교통·직주근접 도시계획 연계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주체(공사)와 제도·예산 주체(국회)가 함께 가야 완성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14984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 · 정책 수단 메뉴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분산 정책 카드 — 수요·공급·가격 3축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0072B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 관리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4672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시차출퇴근·유연근무 장려금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공공기관 시차출퇴근 의무화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교통유발부담금 감면(대형 빌딩)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61104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61104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009E73"/>
          </a:solidFill>
          <a:ln/>
        </p:spPr>
      </p:sp>
      <p:sp>
        <p:nvSpPr>
          <p:cNvPr id="15" name="Text 13"/>
          <p:cNvSpPr/>
          <p:nvPr/>
        </p:nvSpPr>
        <p:spPr>
          <a:xfrm>
            <a:off x="4261104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공급·하드웨어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17136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의자 없는(접이식) 지하철 칸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급행·셔틀 탄력 배차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환승역 일방통행·동선 안내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73568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F2C14E"/>
          </a:solidFill>
          <a:ln/>
        </p:spPr>
      </p:sp>
      <p:sp>
        <p:nvSpPr>
          <p:cNvPr id="19" name="Text 17"/>
          <p:cNvSpPr/>
          <p:nvPr/>
        </p:nvSpPr>
        <p:spPr>
          <a:xfrm>
            <a:off x="7973568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가격·기술 제어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혼잡통행료·혼잡세 → 대중교통 재투자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혼잡도 연동 요금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급행/일반 요금 차등화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피크(2호선·08·18시·도심·역유형)에 맞춰 정책 카드를 조합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10996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· 해외 벤치마크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해법이 있다 — 해외 도시의 성과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싱가포르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신호(CBTC) 교체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신뢰성(MKBF)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1~10배 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46704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46704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뉴욕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83864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도착·칸별 정보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38144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체감 대기시간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 ↓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44768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44768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런던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81928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4개선 현대화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3620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수송 용량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33% ↑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42832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42832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홍콩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79992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장애 벌과금→운임 환원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34272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정시율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99.9%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정보 + 노후 신호 교체 + 책임성(환원) = 입증된 조합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8972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14984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109960" y="29260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6" name="Text 4"/>
          <p:cNvSpPr/>
          <p:nvPr/>
        </p:nvSpPr>
        <p:spPr>
          <a:xfrm>
            <a:off x="11109960" y="292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· Action Plan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단기·중기·장기 실행계획 (주체 · KPI)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97680"/>
                <a:gridCol w="13716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과제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KPI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집중역 실시간 혼잡·사고 안내 + 안전인력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안전사고 0건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 비상 혼잡 대응 + 신호·전기 예방정비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혼잡 해소시간↓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시차출퇴근 인센티브 + 피크 증차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서울시·국회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피크 분산율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노후 신호·전동차 교체 예산 + 안전기준 법제화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국회 국토위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 건수↓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광역교통·직주근접 도시계획 연계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국토부·서울시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도심 집중도↓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9006840" y="1783080"/>
            <a:ext cx="2743200" cy="3383280"/>
          </a:xfrm>
          <a:prstGeom prst="roundRect">
            <a:avLst>
              <a:gd name="adj" fmla="val 233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098280" y="1920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💸 경제 논리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0068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55E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81.3조원</a:t>
            </a:r>
            <a:endParaRPr lang="en-US" sz="2900" dirty="0"/>
          </a:p>
        </p:txBody>
      </p:sp>
      <p:sp>
        <p:nvSpPr>
          <p:cNvPr id="13" name="Text 10"/>
          <p:cNvSpPr/>
          <p:nvPr/>
        </p:nvSpPr>
        <p:spPr>
          <a:xfrm>
            <a:off x="9098280" y="3063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 교통혼잡비용 (GDP 3.37%, KOTI)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098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효과(해외): 시차출퇴근 2% · 도쿄 5% · 싱가포르 7% 분산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완화 투자는 비용이 아니라 81.3조 손실을 줄이는 '회수'다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691640"/>
            <a:ext cx="106070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혼잡과 사고가 겹치는 취약 지점을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데이터로 짚었다.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이제 우선순위 투자로 안전을 지킬 차례다.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4892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출처: 서울 열린데이터광장 · 공공데이터포털 · 한국교통연구원(KOTI) · YTN·MBC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53035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분석: 민토 SCQA·피라미드 · 기초통계(ANOVA·효과크기·Tukey·포아송) · K-means 군집 · Wilke 시각화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지하철 혼잡·사고 분석</dc:title>
  <dc:subject>PptxGenJS Presentation</dc:subject>
  <dc:creator>데이터분석팀</dc:creator>
  <cp:lastModifiedBy>데이터분석팀</cp:lastModifiedBy>
  <cp:revision>1</cp:revision>
  <dcterms:created xsi:type="dcterms:W3CDTF">2026-06-25T14:40:19Z</dcterms:created>
  <dcterms:modified xsi:type="dcterms:W3CDTF">2026-06-25T14:40:19Z</dcterms:modified>
</cp:coreProperties>
</file>