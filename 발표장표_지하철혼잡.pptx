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제언 보고서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78308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출퇴근, 혼잡도 사고도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곳에 몰린다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36118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데이터 분석과 정책 제언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41148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1~9호선  ·  2015–2026  ·  대상: 정책입안자(서울교통공사·국회 국토교통위)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498348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120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82,352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5623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94760" y="498348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94760" y="5120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2,837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794760" y="5623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5년 사고 건수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12280" y="498348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5120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28노선·600역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12280" y="5623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범위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정의 · 바바라 민토 SCQA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평소 혼잡한 곳에 사고가 겹치면 '안전 위협'이 된다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40233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39112"/>
            <a:ext cx="713232" cy="713232"/>
          </a:xfrm>
          <a:prstGeom prst="ellipse">
            <a:avLst/>
          </a:prstGeom>
          <a:solidFill>
            <a:srgbClr val="457B9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93976"/>
            <a:ext cx="713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57B9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코로나로 급감한 지하철 수요가 2024년 2019년의 91%까지 회복 → 출퇴근 혼잡 재심화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83080"/>
            <a:ext cx="2651760" cy="40233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75304" y="2039112"/>
            <a:ext cx="713232" cy="713232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1" name="Text 9"/>
          <p:cNvSpPr/>
          <p:nvPr/>
        </p:nvSpPr>
        <p:spPr>
          <a:xfrm>
            <a:off x="3575304" y="2093976"/>
            <a:ext cx="713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575304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75304" y="34290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혼잡한 노선·시간대에 사고·급정차가 겹치면 혼잡 폭증 → 안전 위험 (2025.7 2호선·8 4호선 출근 사고)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44768" y="1783080"/>
            <a:ext cx="2651760" cy="40233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73368" y="2039112"/>
            <a:ext cx="713232" cy="713232"/>
          </a:xfrm>
          <a:prstGeom prst="ellipse">
            <a:avLst/>
          </a:prstGeom>
          <a:solidFill>
            <a:srgbClr val="0F2B46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093976"/>
            <a:ext cx="713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73368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3368" y="34290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어느 노선·역·시간대가 '사고 시 가장 위험한 취약 지점'인가?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42832" y="1783080"/>
            <a:ext cx="2651760" cy="40233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432" y="2039112"/>
            <a:ext cx="713232" cy="7132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9171432" y="2093976"/>
            <a:ext cx="713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171432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71432" y="34290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2호선·도심·출퇴근에 혼잡·사고 동시 집중 → 취약 지점 우선 투자 + 사고·수요 대응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01 · 이용객 추이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코로나로 –27% 급감 후 빠르게 재혼잡 (2024년, 2019년의 91% 회복)</a:t>
            </a:r>
            <a:endParaRPr lang="en-US" sz="2300" dirty="0"/>
          </a:p>
        </p:txBody>
      </p:sp>
      <p:pic>
        <p:nvPicPr>
          <p:cNvPr id="4" name="Image 0" descr="/Users/yoon/Documents/데이터분석/charts/근거1_연도추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7040880" cy="4389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828800"/>
            <a:ext cx="1920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9751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–27.4%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8028432" y="267004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2020 코로나 (vs 2019)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058400" y="1828800"/>
            <a:ext cx="1920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058400" y="19751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A9D8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91%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10131552" y="267004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 회복 수준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0" y="347472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수요가 다시 출퇴근에 몰리는 중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평시 부하 ↑ → 사고 시 더 위험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네트워크 확장에도 코로나 충격 뚜렷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02 · 호선별 비교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혼잡은 2호선에 압도적으로 집중된다 (통계적으로 유의)</a:t>
            </a:r>
            <a:endParaRPr lang="en-US" sz="2300" dirty="0"/>
          </a:p>
        </p:txBody>
      </p:sp>
      <p:pic>
        <p:nvPicPr>
          <p:cNvPr id="4" name="Image 0" descr="/Users/yoon/Documents/데이터분석/charts/근거2_호선Top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7040880" cy="4389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828800"/>
            <a:ext cx="1920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9751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8028432" y="267004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이용객 1위 (2위의 2배+)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058400" y="1828800"/>
            <a:ext cx="1920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058400" y="19751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p&lt;0.001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10131552" y="267004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ANOVA F=14.8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0" y="347472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호선 간 차이 = 우연 아닌 구조적 차이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 = 순환선·도심 업무지구 관통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한정된 예산은 2호선·집중 호선 우선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03 · 시간대 패턴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08시·퇴근 18시 — 뾰족한 출퇴근 쌍봉 피크</a:t>
            </a:r>
            <a:endParaRPr lang="en-US" sz="2300" dirty="0"/>
          </a:p>
        </p:txBody>
      </p:sp>
      <p:pic>
        <p:nvPicPr>
          <p:cNvPr id="4" name="Image 0" descr="/Users/yoon/Documents/데이터분석/charts/근거3_시간대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49808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21040" y="1828800"/>
            <a:ext cx="1737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7510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8394192" y="2670048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하차 피크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195560" y="1828800"/>
            <a:ext cx="1737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195560" y="197510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57B9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18시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10268712" y="2670048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퇴근 승차 피크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321040" y="347472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유입형(업무지구): 시청·종각·광화문·여의도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유출형(주거지): 외곽 주거역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피크 분산이 핵심 정책 지점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04 · 공간 분포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10% 역이 전체의 28.5% — 도심·강남권에 집중</a:t>
            </a:r>
            <a:endParaRPr lang="en-US" sz="2300" dirty="0"/>
          </a:p>
        </p:txBody>
      </p:sp>
      <p:pic>
        <p:nvPicPr>
          <p:cNvPr id="4" name="Image 0" descr="/Users/yoon/Documents/데이터분석/charts/근거4_지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5212080" cy="4480560"/>
          </a:xfrm>
          <a:prstGeom prst="rect">
            <a:avLst/>
          </a:prstGeom>
        </p:spPr>
      </p:pic>
      <p:pic>
        <p:nvPicPr>
          <p:cNvPr id="5" name="Image 1" descr="/Users/yoon/Documents/데이터분석/charts/근거4_역Top1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52160" y="1783080"/>
            <a:ext cx="4572000" cy="32918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035040" y="4617720"/>
            <a:ext cx="2103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6035040" y="476402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28.5%</a:t>
            </a:r>
            <a:endParaRPr lang="en-US" sz="2900" dirty="0"/>
          </a:p>
        </p:txBody>
      </p:sp>
      <p:sp>
        <p:nvSpPr>
          <p:cNvPr id="8" name="Text 4"/>
          <p:cNvSpPr/>
          <p:nvPr/>
        </p:nvSpPr>
        <p:spPr>
          <a:xfrm>
            <a:off x="6108192" y="5458968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10% 역 집중도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321040" y="461772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Top: 잠실·서울역·고속터미널·홍대입구·강남 (환승 허브)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05 · 사고 분석 (5년 2,837건)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사고도 같은 시간·같은 역에 몰린다 (08시 최다, 출퇴근 34.4%)</a:t>
            </a:r>
            <a:endParaRPr lang="en-US" sz="2300" dirty="0"/>
          </a:p>
        </p:txBody>
      </p:sp>
      <p:pic>
        <p:nvPicPr>
          <p:cNvPr id="4" name="Image 0" descr="/Users/yoon/Documents/데이터분석/charts/근거5_사고시간대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49808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21040" y="1828800"/>
            <a:ext cx="1737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7510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374건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8394192" y="2670048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 사고 최다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195560" y="1828800"/>
            <a:ext cx="1737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195560" y="197510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34.4%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10268712" y="2670048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 4시간 집중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321040" y="347472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+81% 증가 (2021→2024)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다발역 = 혼잡 환승역 (신도림·사당·고속터미널)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'평시 혼잡 = 사고 취약성' 데이터로 입증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결론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지하철은 2호선·도심·출퇴근에 혼잡이 집중되고,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사고도 같은 시간·역에 몰린다 → 취약 지점 우선 투자 + 사고·수요 대응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20040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77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448056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 –27%→재혼잡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44368" y="320040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44368" y="3977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054096" y="448056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 압도(유의)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57216" y="320040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157216" y="3977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시간대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66944" y="448056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08·18시 쌍봉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70064" y="320040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70064" y="3977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79792" y="448056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상위10%=28.5%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82912" y="320040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8291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582912" y="39776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92640" y="4480560"/>
            <a:ext cx="1837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08시·출퇴근 34.4%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5종이 하나의 결론을 가리킨다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취약 지점에 우선 투자 + 사고·수요 대응 — 투트랙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114800"/>
          </a:xfrm>
          <a:prstGeom prst="roundRect">
            <a:avLst>
              <a:gd name="adj" fmla="val 1556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0F2B4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🚇 서울교통공사 (운영·실행)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78892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집중역(2호선·환승허브) 우선 혼잡 관리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사고·급정차 시 비상 혼잡 대응 프로토콜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신호·전기 설비 예방정비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집중역 동선·승강설비 개선, 피크 증차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45352" y="1783080"/>
            <a:ext cx="5394960" cy="4114800"/>
          </a:xfrm>
          <a:prstGeom prst="roundRect">
            <a:avLst>
              <a:gd name="adj" fmla="val 1556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45352" y="178308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E63946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783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🏛️ 국회 국토교통위 (입법·예산)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65392" y="278892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시차출퇴근·유연근무 인센티브 (수요 분산)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신호·전동차 교체 예산 확보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이상상황 대응 기준 법제화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광역교통·직주근접 도시계획 연계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Action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단기·중기·장기 실행계획 (주체 · KPI)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371600"/>
                <a:gridCol w="1737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과제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성과지표(KPI)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집중역 실시간 혼잡·사고 안내 + 안전인력 배치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교통공사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혼잡역 안전사고 0건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사고·급정차 비상 혼잡 대응 + 신호·전기 예방정비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교통공사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사고 시 혼잡 해소시간 ↓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중기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시차출퇴근 인센티브 + 피크 증차 (수요 분산)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서울시·국회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피크 수요 분산율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중기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노후 신호·전동차 교체 예산 + 안전기준 법제화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국회 국토위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출근피크 사고 건수 ↓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광역교통·직주근접 도시계획 연계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국토부·서울시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도심 통행집중도 ↓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006840" y="1737360"/>
            <a:ext cx="2743200" cy="3566160"/>
          </a:xfrm>
          <a:prstGeom prst="roundRect">
            <a:avLst>
              <a:gd name="adj" fmla="val 233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98280" y="1874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💸 경제 논리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81.3조원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09828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연간 교통혼잡비용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(GDP 3.37%, KOTI)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098280" y="3931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i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완화 투자는</a:t>
            </a:r>
            <a:endParaRPr lang="en-US" sz="13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50" b="1" i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비용이 아니라 회수다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해외 근거: 싱가포르 신호교체 신뢰성 1~10배↑ · 뉴욕 실시간정보 체감대기 50%↓ · 런던 15분+ 자동환불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011680"/>
            <a:ext cx="10607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혼잡과 사고가 겹치는 취약 지점을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데이터로 짚었다. 이제 우선순위 투자로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안전을 지킬 차례다.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출처: 서울 열린데이터광장 · 공공데이터포털 · 한국교통연구원(KOTI) · YTN·MBC 보도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프레임: 바바라 민토 SCQA·피라미드 · 기초통계(ANOVA 등) · Claus Wilke 시각화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지하철 혼잡·사고 분석</dc:title>
  <dc:subject>PptxGenJS Presentation</dc:subject>
  <dc:creator>데이터분석팀</dc:creator>
  <cp:lastModifiedBy>데이터분석팀</cp:lastModifiedBy>
  <cp:revision>1</cp:revision>
  <dcterms:created xsi:type="dcterms:W3CDTF">2026-06-25T11:34:20Z</dcterms:created>
  <dcterms:modified xsi:type="dcterms:W3CDTF">2026-06-25T11:34:20Z</dcterms:modified>
</cp:coreProperties>
</file>