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video" Target="../media/media-4-1.mp4"/><Relationship Id="rId2" Type="http://schemas.microsoft.com/office/2007/relationships/media" Target="../media/media-4-1.mp4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2E5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17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FA8D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정책 제언 보고서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187452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출퇴근, 혼잡도 사고도 한 곳에 몰린다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22960" y="36118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 지하철 혼잡·사고 데이터 분석과 정책 제언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41248" y="4251960"/>
            <a:ext cx="2926080" cy="0"/>
          </a:xfrm>
          <a:prstGeom prst="line">
            <a:avLst/>
          </a:prstGeom>
          <a:noFill/>
          <a:ln w="19050">
            <a:solidFill>
              <a:srgbClr val="3A557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44348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4B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 1~9호선 · 2015–2026 · 대상: 서울교통공사 · 국회 국토교통위원회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5943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F86A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데이터분석팀 · 2026.6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301752"/>
            <a:ext cx="914400" cy="310896"/>
          </a:xfrm>
          <a:prstGeom prst="roundRect">
            <a:avLst>
              <a:gd name="adj" fmla="val 11765"/>
            </a:avLst>
          </a:prstGeom>
          <a:solidFill>
            <a:srgbClr val="112E51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0" y="30175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180576" y="30175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EB6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131552" y="30175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EB6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대안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1082528" y="30175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EB6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2054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· EXECUTIVE SUMMARY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112E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장 요약 — 무엇이 문제이고, 무엇을 해야 하는가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548640" y="1783080"/>
            <a:ext cx="11091672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C7CDD4"/>
            </a:solidFill>
            <a:prstDash val="solid"/>
          </a:ln>
          <a:effectLst>
            <a:outerShdw sx="100000" sy="100000" kx="0" ky="0" algn="bl" rotWithShape="0" blurRad="88900" dist="25400" dir="5400000">
              <a:srgbClr val="AAB2BD">
                <a:alpha val="2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31520" y="1783080"/>
            <a:ext cx="1554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54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상황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240280" y="1947672"/>
            <a:ext cx="0" cy="512064"/>
          </a:xfrm>
          <a:prstGeom prst="line">
            <a:avLst/>
          </a:prstGeom>
          <a:noFill/>
          <a:ln w="12700">
            <a:solidFill>
              <a:srgbClr val="C7CD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68880" y="1783080"/>
            <a:ext cx="89611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코로나 후 수요 91% 회복 → 출퇴근 혼잡 재심화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" y="2743200"/>
            <a:ext cx="11091672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C7CDD4"/>
            </a:solidFill>
            <a:prstDash val="solid"/>
          </a:ln>
          <a:effectLst>
            <a:outerShdw sx="100000" sy="100000" kx="0" ky="0" algn="bl" rotWithShape="0" blurRad="88900" dist="25400" dir="5400000">
              <a:srgbClr val="AAB2BD">
                <a:alpha val="2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31520" y="2743200"/>
            <a:ext cx="1554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54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240280" y="2907792"/>
            <a:ext cx="0" cy="512064"/>
          </a:xfrm>
          <a:prstGeom prst="line">
            <a:avLst/>
          </a:prstGeom>
          <a:noFill/>
          <a:ln w="12700">
            <a:solidFill>
              <a:srgbClr val="C7CD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68880" y="2743200"/>
            <a:ext cx="89611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혼잡한 노선·시간대에 사고가 겹치면 폭증 → 안전 위협 (반복 발생)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548640" y="3703320"/>
            <a:ext cx="11091672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C7CDD4"/>
            </a:solidFill>
            <a:prstDash val="solid"/>
          </a:ln>
          <a:effectLst>
            <a:outerShdw sx="100000" sy="100000" kx="0" ky="0" algn="bl" rotWithShape="0" blurRad="88900" dist="25400" dir="5400000">
              <a:srgbClr val="AAB2BD">
                <a:alpha val="2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31520" y="3703320"/>
            <a:ext cx="1554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54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240280" y="3867912"/>
            <a:ext cx="0" cy="512064"/>
          </a:xfrm>
          <a:prstGeom prst="line">
            <a:avLst/>
          </a:prstGeom>
          <a:noFill/>
          <a:ln w="12700">
            <a:solidFill>
              <a:srgbClr val="C7CD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468880" y="3703320"/>
            <a:ext cx="89611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혼잡·사고 모두 2호선·도심·출퇴근 집중 (상위10% 역 28.5% · 출근 사고율 2.65배 · η²=.28)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548640" y="4663440"/>
            <a:ext cx="11091672" cy="841248"/>
          </a:xfrm>
          <a:prstGeom prst="roundRect">
            <a:avLst>
              <a:gd name="adj" fmla="val 6522"/>
            </a:avLst>
          </a:prstGeom>
          <a:solidFill>
            <a:srgbClr val="F4F5F6"/>
          </a:solidFill>
          <a:ln w="12700">
            <a:solidFill>
              <a:srgbClr val="C7CDD4"/>
            </a:solidFill>
            <a:prstDash val="solid"/>
          </a:ln>
          <a:effectLst>
            <a:outerShdw sx="100000" sy="100000" kx="0" ky="0" algn="bl" rotWithShape="0" blurRad="88900" dist="25400" dir="5400000">
              <a:srgbClr val="AAB2BD">
                <a:alpha val="2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31520" y="4663440"/>
            <a:ext cx="1554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제언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240280" y="4828032"/>
            <a:ext cx="0" cy="512064"/>
          </a:xfrm>
          <a:prstGeom prst="line">
            <a:avLst/>
          </a:prstGeom>
          <a:noFill/>
          <a:ln w="12700">
            <a:solidFill>
              <a:srgbClr val="C7CD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468880" y="4663440"/>
            <a:ext cx="89611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취약 지점 우선 투자 + 사고·수요 대응 — 서울교통공사·국회 투트랙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548640" y="65653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7CD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 지하철 혼잡·사고 정책 제언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D78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301752"/>
            <a:ext cx="914400" cy="310896"/>
          </a:xfrm>
          <a:prstGeom prst="roundRect">
            <a:avLst>
              <a:gd name="adj" fmla="val 11765"/>
            </a:avLst>
          </a:prstGeom>
          <a:solidFill>
            <a:srgbClr val="112E51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0" y="30175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180576" y="30175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EB6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131552" y="30175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EB6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대안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1082528" y="30175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EB6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2054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정의 · 바바라 민토 SCQA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112E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평소 혼잡한 곳에 사고가 겹치면 '안전 위협'이 된다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548640" y="1783080"/>
            <a:ext cx="2651760" cy="361188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C7CDD4"/>
            </a:solidFill>
            <a:prstDash val="solid"/>
          </a:ln>
          <a:effectLst>
            <a:outerShdw sx="100000" sy="100000" kx="0" ky="0" algn="bl" rotWithShape="0" blurRad="88900" dist="25400" dir="5400000">
              <a:srgbClr val="AAB2BD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057400"/>
            <a:ext cx="658368" cy="658368"/>
          </a:xfrm>
          <a:prstGeom prst="ellipse">
            <a:avLst/>
          </a:prstGeom>
          <a:solidFill>
            <a:srgbClr val="205493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103120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822960" y="28803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54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상황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2960" y="3264408"/>
            <a:ext cx="2103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E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코로나로 급감한 수요가 2024년 2019년의 91%까지 회복 → 출퇴근 혼잡 재심화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346704" y="1783080"/>
            <a:ext cx="2651760" cy="361188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C7CDD4"/>
            </a:solidFill>
            <a:prstDash val="solid"/>
          </a:ln>
          <a:effectLst>
            <a:outerShdw sx="100000" sy="100000" kx="0" ky="0" algn="bl" rotWithShape="0" blurRad="88900" dist="25400" dir="5400000">
              <a:srgbClr val="AAB2BD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21024" y="2057400"/>
            <a:ext cx="658368" cy="65836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6" name="Text 14"/>
          <p:cNvSpPr/>
          <p:nvPr/>
        </p:nvSpPr>
        <p:spPr>
          <a:xfrm>
            <a:off x="3621024" y="2103120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3621024" y="28803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621024" y="3264408"/>
            <a:ext cx="2103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E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 혼잡한 노선·시간대에 사고·급정차가 겹치면 혼잡 폭증 → 안전 위험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44768" y="1783080"/>
            <a:ext cx="2651760" cy="361188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C7CDD4"/>
            </a:solidFill>
            <a:prstDash val="solid"/>
          </a:ln>
          <a:effectLst>
            <a:outerShdw sx="100000" sy="100000" kx="0" ky="0" algn="bl" rotWithShape="0" blurRad="88900" dist="25400" dir="5400000">
              <a:srgbClr val="AAB2BD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19088" y="2057400"/>
            <a:ext cx="658368" cy="658368"/>
          </a:xfrm>
          <a:prstGeom prst="ellipse">
            <a:avLst/>
          </a:prstGeom>
          <a:solidFill>
            <a:srgbClr val="112E51"/>
          </a:solidFill>
          <a:ln/>
        </p:spPr>
      </p:sp>
      <p:sp>
        <p:nvSpPr>
          <p:cNvPr id="21" name="Text 19"/>
          <p:cNvSpPr/>
          <p:nvPr/>
        </p:nvSpPr>
        <p:spPr>
          <a:xfrm>
            <a:off x="6419088" y="2103120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6419088" y="28803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2E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19088" y="3264408"/>
            <a:ext cx="2103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E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노선·역·시간대가 '사고 시 가장 위험한 취약 지점'인가?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942832" y="1783080"/>
            <a:ext cx="2651760" cy="361188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C7CDD4"/>
            </a:solidFill>
            <a:prstDash val="solid"/>
          </a:ln>
          <a:effectLst>
            <a:outerShdw sx="100000" sy="100000" kx="0" ky="0" algn="bl" rotWithShape="0" blurRad="88900" dist="25400" dir="5400000">
              <a:srgbClr val="AAB2BD">
                <a:alpha val="2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217152" y="2057400"/>
            <a:ext cx="658368" cy="658368"/>
          </a:xfrm>
          <a:prstGeom prst="ellipse">
            <a:avLst/>
          </a:prstGeom>
          <a:solidFill>
            <a:srgbClr val="112E51"/>
          </a:solidFill>
          <a:ln/>
        </p:spPr>
      </p:sp>
      <p:sp>
        <p:nvSpPr>
          <p:cNvPr id="26" name="Text 24"/>
          <p:cNvSpPr/>
          <p:nvPr/>
        </p:nvSpPr>
        <p:spPr>
          <a:xfrm>
            <a:off x="9217152" y="2103120"/>
            <a:ext cx="658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2700" dirty="0"/>
          </a:p>
        </p:txBody>
      </p:sp>
      <p:sp>
        <p:nvSpPr>
          <p:cNvPr id="27" name="Text 25"/>
          <p:cNvSpPr/>
          <p:nvPr/>
        </p:nvSpPr>
        <p:spPr>
          <a:xfrm>
            <a:off x="9217152" y="28803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2E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217152" y="3264408"/>
            <a:ext cx="2103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E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2호선·도심·출퇴근 집중 → 취약 지점 우선 투자 + 사고·수요 대응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48640" y="65653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7CD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 지하철 혼잡·사고 정책 제언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D78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301752"/>
            <a:ext cx="914400" cy="310896"/>
          </a:xfrm>
          <a:prstGeom prst="roundRect">
            <a:avLst>
              <a:gd name="adj" fmla="val 11765"/>
            </a:avLst>
          </a:prstGeom>
          <a:solidFill>
            <a:srgbClr val="112E51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0" y="30175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180576" y="30175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EB6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131552" y="30175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EB6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대안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1082528" y="30175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EB6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2054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· 반복되는 현실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112E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이건 하루 이틀의 일이 아니다 — 매년 반복되는 사고·혼잡</a:t>
            </a:r>
            <a:endParaRPr lang="en-US" sz="2100" dirty="0"/>
          </a:p>
        </p:txBody>
      </p:sp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3081528" y="1645920"/>
            <a:ext cx="6016752" cy="33832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743200" y="5120640"/>
            <a:ext cx="6702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D78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 2022~2026 실제 보도 헤드라인 몽타주 (재생 — 발표 시 자동/클릭)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48640" y="5623560"/>
            <a:ext cx="11091672" cy="603504"/>
          </a:xfrm>
          <a:prstGeom prst="roundRect">
            <a:avLst>
              <a:gd name="adj" fmla="val 7576"/>
            </a:avLst>
          </a:prstGeom>
          <a:solidFill>
            <a:srgbClr val="112E51"/>
          </a:solidFill>
          <a:ln/>
        </p:spPr>
      </p:sp>
      <p:sp>
        <p:nvSpPr>
          <p:cNvPr id="12" name="Text 9"/>
          <p:cNvSpPr/>
          <p:nvPr/>
        </p:nvSpPr>
        <p:spPr>
          <a:xfrm>
            <a:off x="868680" y="5623560"/>
            <a:ext cx="10424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DB2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압사 공포·신호장애·끼임·호흡곤란 — 매년·매월 반복되는 구조적 문제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48640" y="636422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D78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자료: 동아·노컷·서울신문·경향·한국일보·한경·YTN·뉴스1·머니투데이·MBC 보도(2022~2026)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548640" y="65653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7CD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 지하철 혼잡·사고 정책 제언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D78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301752"/>
            <a:ext cx="914400" cy="310896"/>
          </a:xfrm>
          <a:prstGeom prst="roundRect">
            <a:avLst>
              <a:gd name="adj" fmla="val 11765"/>
            </a:avLst>
          </a:prstGeom>
          <a:solidFill>
            <a:srgbClr val="112E51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0" y="30175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9180576" y="30175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EB6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131552" y="30175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EB6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대안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1082528" y="30175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EB6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2054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문제의 심각성 · 안전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112E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출근길 혼잡은 이미 '압사 위험' 수준이다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548640" y="1920240"/>
            <a:ext cx="356616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7CDD4"/>
            </a:solidFill>
            <a:prstDash val="solid"/>
          </a:ln>
          <a:effectLst>
            <a:outerShdw sx="100000" sy="100000" kx="0" ky="0" algn="bl" rotWithShape="0" blurRad="88900" dist="25400" dir="5400000">
              <a:srgbClr val="AAB2BD">
                <a:alpha val="2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2066544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C039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6.6명/㎡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612648" y="2724912"/>
            <a:ext cx="3438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D78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구로역 혼잡도 252%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D78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 이태원 참사 밀집도 수준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315968" y="1920240"/>
            <a:ext cx="356616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7CDD4"/>
            </a:solidFill>
            <a:prstDash val="solid"/>
          </a:ln>
          <a:effectLst>
            <a:outerShdw sx="100000" sy="100000" kx="0" ky="0" algn="bl" rotWithShape="0" blurRad="88900" dist="25400" dir="5400000">
              <a:srgbClr val="AAB2BD">
                <a:alpha val="2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315968" y="2066544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C039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200%+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4379976" y="2724912"/>
            <a:ext cx="3438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D78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김포골드라인 출근 혼잡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D78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(수년째 개선 안 됨)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083296" y="1920240"/>
            <a:ext cx="356616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7CDD4"/>
            </a:solidFill>
            <a:prstDash val="solid"/>
          </a:ln>
          <a:effectLst>
            <a:outerShdw sx="100000" sy="100000" kx="0" ky="0" algn="bl" rotWithShape="0" blurRad="88900" dist="25400" dir="5400000">
              <a:srgbClr val="AAB2BD">
                <a:alpha val="2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083296" y="2066544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12E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170%↑</a:t>
            </a: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8147304" y="2724912"/>
            <a:ext cx="3438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D78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이동 불가·얼굴 밀착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D78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(150%면 어깨 부딪침)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3611880"/>
            <a:ext cx="11091672" cy="1691640"/>
          </a:xfrm>
          <a:prstGeom prst="roundRect">
            <a:avLst>
              <a:gd name="adj" fmla="val 3243"/>
            </a:avLst>
          </a:prstGeom>
          <a:solidFill>
            <a:srgbClr val="F4F5F6"/>
          </a:solidFill>
          <a:ln w="12700">
            <a:solidFill>
              <a:srgbClr val="C7CDD4"/>
            </a:solidFill>
            <a:prstDash val="solid"/>
          </a:ln>
          <a:effectLst>
            <a:outerShdw sx="100000" sy="100000" kx="0" ky="0" algn="bl" rotWithShape="0" blurRad="88900" dist="25400" dir="5400000">
              <a:srgbClr val="AAB2BD">
                <a:alpha val="2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22960" y="3749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2E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출근길 사고 (한 달 새 반복)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68680" y="4133088"/>
            <a:ext cx="104241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2025.7.4  2호선 서울대입구역 신호장애 → 약 4시간 운행 차질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2025.8.4  4호선 평촌역 전기 장애 → 350명 환승, 7개 열차 지연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5623560"/>
            <a:ext cx="11091672" cy="603504"/>
          </a:xfrm>
          <a:prstGeom prst="roundRect">
            <a:avLst>
              <a:gd name="adj" fmla="val 7576"/>
            </a:avLst>
          </a:prstGeom>
          <a:solidFill>
            <a:srgbClr val="112E51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5623560"/>
            <a:ext cx="10424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DB2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혼잡한 노선·출근 피크에 사고 발생 → 평시 혼잡 = 사고 취약성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636422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D78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자료: 경향·아시아경제 보도; 서울교통공사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48640" y="65653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7CD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 지하철 혼잡·사고 정책 제언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D78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30175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EB6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9180576" y="301752"/>
            <a:ext cx="914400" cy="310896"/>
          </a:xfrm>
          <a:prstGeom prst="roundRect">
            <a:avLst>
              <a:gd name="adj" fmla="val 11765"/>
            </a:avLst>
          </a:prstGeom>
          <a:solidFill>
            <a:srgbClr val="112E51"/>
          </a:solidFill>
          <a:ln/>
        </p:spPr>
      </p:sp>
      <p:sp>
        <p:nvSpPr>
          <p:cNvPr id="4" name="Text 2"/>
          <p:cNvSpPr/>
          <p:nvPr/>
        </p:nvSpPr>
        <p:spPr>
          <a:xfrm>
            <a:off x="9180576" y="30175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131552" y="30175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EB6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대안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1082528" y="30175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EB6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2054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 01 · 이용객 추이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112E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코로나로 –27% 급감 후 빠르게 재혼잡 (2024년 91% 회복)</a:t>
            </a:r>
            <a:endParaRPr lang="en-US" sz="2100" dirty="0"/>
          </a:p>
        </p:txBody>
      </p:sp>
      <p:pic>
        <p:nvPicPr>
          <p:cNvPr id="9" name="Image 0" descr="/Users/yoon/Documents/데이터분석/charts/근거1_연도추이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737360"/>
            <a:ext cx="6903720" cy="379476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7818120" y="1783080"/>
            <a:ext cx="1956816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7CDD4"/>
            </a:solidFill>
            <a:prstDash val="solid"/>
          </a:ln>
          <a:effectLst>
            <a:outerShdw sx="100000" sy="100000" kx="0" ky="0" algn="bl" rotWithShape="0" blurRad="88900" dist="25400" dir="5400000">
              <a:srgbClr val="AAB2BD">
                <a:alpha val="2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818120" y="1929384"/>
            <a:ext cx="19568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C039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–27.4%</a:t>
            </a:r>
            <a:endParaRPr lang="en-US" sz="2500" dirty="0"/>
          </a:p>
        </p:txBody>
      </p:sp>
      <p:sp>
        <p:nvSpPr>
          <p:cNvPr id="12" name="Text 9"/>
          <p:cNvSpPr/>
          <p:nvPr/>
        </p:nvSpPr>
        <p:spPr>
          <a:xfrm>
            <a:off x="7882128" y="258775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D78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2020 코로나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9957816" y="1783080"/>
            <a:ext cx="1956816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7CDD4"/>
            </a:solidFill>
            <a:prstDash val="solid"/>
          </a:ln>
          <a:effectLst>
            <a:outerShdw sx="100000" sy="100000" kx="0" ky="0" algn="bl" rotWithShape="0" blurRad="88900" dist="25400" dir="5400000">
              <a:srgbClr val="AAB2BD">
                <a:alpha val="2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9957816" y="1929384"/>
            <a:ext cx="19568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12E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91%</a:t>
            </a:r>
            <a:endParaRPr lang="en-US" sz="2500" dirty="0"/>
          </a:p>
        </p:txBody>
      </p:sp>
      <p:sp>
        <p:nvSpPr>
          <p:cNvPr id="15" name="Text 12"/>
          <p:cNvSpPr/>
          <p:nvPr/>
        </p:nvSpPr>
        <p:spPr>
          <a:xfrm>
            <a:off x="10021824" y="258775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D78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2024 회복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7818120" y="3291840"/>
            <a:ext cx="40690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수요가 다시 출퇴근에 집중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평시 부하↑ → 사고 시 위험↑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48640" y="5623560"/>
            <a:ext cx="11091672" cy="603504"/>
          </a:xfrm>
          <a:prstGeom prst="roundRect">
            <a:avLst>
              <a:gd name="adj" fmla="val 7576"/>
            </a:avLst>
          </a:prstGeom>
          <a:solidFill>
            <a:srgbClr val="112E51"/>
          </a:solidFill>
          <a:ln/>
        </p:spPr>
      </p:sp>
      <p:sp>
        <p:nvSpPr>
          <p:cNvPr id="18" name="Text 15"/>
          <p:cNvSpPr/>
          <p:nvPr/>
        </p:nvSpPr>
        <p:spPr>
          <a:xfrm>
            <a:off x="868680" y="5623560"/>
            <a:ext cx="10424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DB2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회복된 수요 = 혼잡·사고 리스크 재상승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48640" y="636422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D78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자료: 서울 열린데이터광장(2026)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548640" y="65653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7CD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 지하철 혼잡·사고 정책 제언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D78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30175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EB6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9180576" y="301752"/>
            <a:ext cx="914400" cy="310896"/>
          </a:xfrm>
          <a:prstGeom prst="roundRect">
            <a:avLst>
              <a:gd name="adj" fmla="val 11765"/>
            </a:avLst>
          </a:prstGeom>
          <a:solidFill>
            <a:srgbClr val="112E51"/>
          </a:solidFill>
          <a:ln/>
        </p:spPr>
      </p:sp>
      <p:sp>
        <p:nvSpPr>
          <p:cNvPr id="4" name="Text 2"/>
          <p:cNvSpPr/>
          <p:nvPr/>
        </p:nvSpPr>
        <p:spPr>
          <a:xfrm>
            <a:off x="9180576" y="30175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131552" y="30175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EB6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대안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1082528" y="30175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EB6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2054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 02 · 호선별 비교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112E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혼잡은 2호선에 집중 — 유의할 뿐 아니라 효과도 크다</a:t>
            </a:r>
            <a:endParaRPr lang="en-US" sz="2100" dirty="0"/>
          </a:p>
        </p:txBody>
      </p:sp>
      <p:pic>
        <p:nvPicPr>
          <p:cNvPr id="9" name="Image 0" descr="/Users/yoon/Documents/데이터분석/charts/근거2_호선Top8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737360"/>
            <a:ext cx="6903720" cy="379476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7818120" y="1783080"/>
            <a:ext cx="1956816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7CDD4"/>
            </a:solidFill>
            <a:prstDash val="solid"/>
          </a:ln>
          <a:effectLst>
            <a:outerShdw sx="100000" sy="100000" kx="0" ky="0" algn="bl" rotWithShape="0" blurRad="88900" dist="25400" dir="5400000">
              <a:srgbClr val="AAB2BD">
                <a:alpha val="2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818120" y="1929384"/>
            <a:ext cx="19568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C039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η²=0.28</a:t>
            </a:r>
            <a:endParaRPr lang="en-US" sz="2500" dirty="0"/>
          </a:p>
        </p:txBody>
      </p:sp>
      <p:sp>
        <p:nvSpPr>
          <p:cNvPr id="12" name="Text 9"/>
          <p:cNvSpPr/>
          <p:nvPr/>
        </p:nvSpPr>
        <p:spPr>
          <a:xfrm>
            <a:off x="7882128" y="258775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D78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大 효과(28% 설명)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9957816" y="1783080"/>
            <a:ext cx="1956816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7CDD4"/>
            </a:solidFill>
            <a:prstDash val="solid"/>
          </a:ln>
          <a:effectLst>
            <a:outerShdw sx="100000" sy="100000" kx="0" ky="0" algn="bl" rotWithShape="0" blurRad="88900" dist="25400" dir="5400000">
              <a:srgbClr val="AAB2BD">
                <a:alpha val="2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9957816" y="1929384"/>
            <a:ext cx="19568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12E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2호선&gt;6</a:t>
            </a:r>
            <a:endParaRPr lang="en-US" sz="2500" dirty="0"/>
          </a:p>
        </p:txBody>
      </p:sp>
      <p:sp>
        <p:nvSpPr>
          <p:cNvPr id="15" name="Text 12"/>
          <p:cNvSpPr/>
          <p:nvPr/>
        </p:nvSpPr>
        <p:spPr>
          <a:xfrm>
            <a:off x="10021824" y="258775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D78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Tukey 사후검정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7818120" y="3291840"/>
            <a:ext cx="40690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ANOVA F=14.8, p&lt;.001 (Welch 보정 후도 유의)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2호선이 8개 중 6개 호선보다 유의하게 많음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2호선 우선 투자 근거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48640" y="5623560"/>
            <a:ext cx="11091672" cy="603504"/>
          </a:xfrm>
          <a:prstGeom prst="roundRect">
            <a:avLst>
              <a:gd name="adj" fmla="val 7576"/>
            </a:avLst>
          </a:prstGeom>
          <a:solidFill>
            <a:srgbClr val="112E51"/>
          </a:solidFill>
          <a:ln/>
        </p:spPr>
      </p:sp>
      <p:sp>
        <p:nvSpPr>
          <p:cNvPr id="18" name="Text 15"/>
          <p:cNvSpPr/>
          <p:nvPr/>
        </p:nvSpPr>
        <p:spPr>
          <a:xfrm>
            <a:off x="868680" y="5623560"/>
            <a:ext cx="10424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DB2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통계적 유의 + 실질 효과(η²=.28) 모두 충족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48640" y="636422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D78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자료: 서울 열린데이터광장(2026); 팀 분석(ANOVA·Tukey)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548640" y="65653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7CD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 지하철 혼잡·사고 정책 제언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D78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30175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EB6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9180576" y="301752"/>
            <a:ext cx="914400" cy="310896"/>
          </a:xfrm>
          <a:prstGeom prst="roundRect">
            <a:avLst>
              <a:gd name="adj" fmla="val 11765"/>
            </a:avLst>
          </a:prstGeom>
          <a:solidFill>
            <a:srgbClr val="112E51"/>
          </a:solidFill>
          <a:ln/>
        </p:spPr>
      </p:sp>
      <p:sp>
        <p:nvSpPr>
          <p:cNvPr id="4" name="Text 2"/>
          <p:cNvSpPr/>
          <p:nvPr/>
        </p:nvSpPr>
        <p:spPr>
          <a:xfrm>
            <a:off x="9180576" y="30175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131552" y="30175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EB6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대안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1082528" y="30175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EB6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2054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 03 · 시간대 패턴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112E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출근 08시·퇴근 18시 — 뾰족한 출퇴근 쌍봉 피크</a:t>
            </a:r>
            <a:endParaRPr lang="en-US" sz="2100" dirty="0"/>
          </a:p>
        </p:txBody>
      </p:sp>
      <p:pic>
        <p:nvPicPr>
          <p:cNvPr id="9" name="Image 0" descr="/Users/yoon/Documents/데이터분석/charts/근거3_시간대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737360"/>
            <a:ext cx="6903720" cy="379476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7818120" y="1783080"/>
            <a:ext cx="1956816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7CDD4"/>
            </a:solidFill>
            <a:prstDash val="solid"/>
          </a:ln>
          <a:effectLst>
            <a:outerShdw sx="100000" sy="100000" kx="0" ky="0" algn="bl" rotWithShape="0" blurRad="88900" dist="25400" dir="5400000">
              <a:srgbClr val="AAB2BD">
                <a:alpha val="2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818120" y="1929384"/>
            <a:ext cx="19568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12E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08시</a:t>
            </a:r>
            <a:endParaRPr lang="en-US" sz="2500" dirty="0"/>
          </a:p>
        </p:txBody>
      </p:sp>
      <p:sp>
        <p:nvSpPr>
          <p:cNvPr id="12" name="Text 9"/>
          <p:cNvSpPr/>
          <p:nvPr/>
        </p:nvSpPr>
        <p:spPr>
          <a:xfrm>
            <a:off x="7882128" y="258775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D78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출근 하차피크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9957816" y="1783080"/>
            <a:ext cx="1956816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7CDD4"/>
            </a:solidFill>
            <a:prstDash val="solid"/>
          </a:ln>
          <a:effectLst>
            <a:outerShdw sx="100000" sy="100000" kx="0" ky="0" algn="bl" rotWithShape="0" blurRad="88900" dist="25400" dir="5400000">
              <a:srgbClr val="AAB2BD">
                <a:alpha val="2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9957816" y="1929384"/>
            <a:ext cx="19568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054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18시</a:t>
            </a:r>
            <a:endParaRPr lang="en-US" sz="2500" dirty="0"/>
          </a:p>
        </p:txBody>
      </p:sp>
      <p:sp>
        <p:nvSpPr>
          <p:cNvPr id="15" name="Text 12"/>
          <p:cNvSpPr/>
          <p:nvPr/>
        </p:nvSpPr>
        <p:spPr>
          <a:xfrm>
            <a:off x="10021824" y="258775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D78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퇴근 승차피크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7818120" y="3291840"/>
            <a:ext cx="40690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유입형(업무): 시청·종각·광화문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유출형(주거): 외곽역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피크 분산이 핵심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48640" y="5623560"/>
            <a:ext cx="11091672" cy="603504"/>
          </a:xfrm>
          <a:prstGeom prst="roundRect">
            <a:avLst>
              <a:gd name="adj" fmla="val 7576"/>
            </a:avLst>
          </a:prstGeom>
          <a:solidFill>
            <a:srgbClr val="112E51"/>
          </a:solidFill>
          <a:ln/>
        </p:spPr>
      </p:sp>
      <p:sp>
        <p:nvSpPr>
          <p:cNvPr id="18" name="Text 15"/>
          <p:cNvSpPr/>
          <p:nvPr/>
        </p:nvSpPr>
        <p:spPr>
          <a:xfrm>
            <a:off x="868680" y="5623560"/>
            <a:ext cx="10424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DB2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수요 분산 정책은 08·18시 두 봉우리를 겨냥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48640" y="636422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D78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자료: 서울 열린데이터광장(2026)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548640" y="65653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7CD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 지하철 혼잡·사고 정책 제언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D78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30175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EB6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9180576" y="301752"/>
            <a:ext cx="914400" cy="310896"/>
          </a:xfrm>
          <a:prstGeom prst="roundRect">
            <a:avLst>
              <a:gd name="adj" fmla="val 11765"/>
            </a:avLst>
          </a:prstGeom>
          <a:solidFill>
            <a:srgbClr val="112E51"/>
          </a:solidFill>
          <a:ln/>
        </p:spPr>
      </p:sp>
      <p:sp>
        <p:nvSpPr>
          <p:cNvPr id="4" name="Text 2"/>
          <p:cNvSpPr/>
          <p:nvPr/>
        </p:nvSpPr>
        <p:spPr>
          <a:xfrm>
            <a:off x="9180576" y="30175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131552" y="30175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EB6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대안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1082528" y="30175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EB6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2054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 04 · 공간 분포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112E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상위 10% 역이 전체의 28.5% — 도심·강남권 집중</a:t>
            </a:r>
            <a:endParaRPr lang="en-US" sz="2100" dirty="0"/>
          </a:p>
        </p:txBody>
      </p:sp>
      <p:pic>
        <p:nvPicPr>
          <p:cNvPr id="9" name="Image 0" descr="/Users/yoon/Documents/데이터분석/charts/근거4_지도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737360"/>
            <a:ext cx="6903720" cy="379476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7818120" y="1783080"/>
            <a:ext cx="1956816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7CDD4"/>
            </a:solidFill>
            <a:prstDash val="solid"/>
          </a:ln>
          <a:effectLst>
            <a:outerShdw sx="100000" sy="100000" kx="0" ky="0" algn="bl" rotWithShape="0" blurRad="88900" dist="25400" dir="5400000">
              <a:srgbClr val="AAB2BD">
                <a:alpha val="2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818120" y="1929384"/>
            <a:ext cx="19568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C039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28.5%</a:t>
            </a:r>
            <a:endParaRPr lang="en-US" sz="2500" dirty="0"/>
          </a:p>
        </p:txBody>
      </p:sp>
      <p:sp>
        <p:nvSpPr>
          <p:cNvPr id="12" name="Text 9"/>
          <p:cNvSpPr/>
          <p:nvPr/>
        </p:nvSpPr>
        <p:spPr>
          <a:xfrm>
            <a:off x="7882128" y="258775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D78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상위10% 역 집중도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7818120" y="3291840"/>
            <a:ext cx="40690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Top: 잠실·서울역·고속터미널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홍대입구·강남 (환승 허브)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소수 지점 집중 관리 가능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48640" y="5623560"/>
            <a:ext cx="11091672" cy="603504"/>
          </a:xfrm>
          <a:prstGeom prst="roundRect">
            <a:avLst>
              <a:gd name="adj" fmla="val 7576"/>
            </a:avLst>
          </a:prstGeom>
          <a:solidFill>
            <a:srgbClr val="112E51"/>
          </a:solidFill>
          <a:ln/>
        </p:spPr>
      </p:sp>
      <p:sp>
        <p:nvSpPr>
          <p:cNvPr id="15" name="Text 12"/>
          <p:cNvSpPr/>
          <p:nvPr/>
        </p:nvSpPr>
        <p:spPr>
          <a:xfrm>
            <a:off x="868680" y="5623560"/>
            <a:ext cx="10424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DB2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혼잡은 소수 핫스팟에 집중 → 집중 투자가 효율적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48640" y="636422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D78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자료: 서울 열린데이터광장·공공데이터포털(좌표)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548640" y="65653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7CD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 지하철 혼잡·사고 정책 제언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D78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30175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EB6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9180576" y="301752"/>
            <a:ext cx="914400" cy="310896"/>
          </a:xfrm>
          <a:prstGeom prst="roundRect">
            <a:avLst>
              <a:gd name="adj" fmla="val 11765"/>
            </a:avLst>
          </a:prstGeom>
          <a:solidFill>
            <a:srgbClr val="112E51"/>
          </a:solidFill>
          <a:ln/>
        </p:spPr>
      </p:sp>
      <p:sp>
        <p:nvSpPr>
          <p:cNvPr id="4" name="Text 2"/>
          <p:cNvSpPr/>
          <p:nvPr/>
        </p:nvSpPr>
        <p:spPr>
          <a:xfrm>
            <a:off x="9180576" y="30175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131552" y="30175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EB6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대안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1082528" y="30175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EB6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2054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 05 · 사고 분석 (5년 2,837건)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112E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사고도 같은 시간에 몰린다 — 출근 사고율이 2.65배</a:t>
            </a:r>
            <a:endParaRPr lang="en-US" sz="2100" dirty="0"/>
          </a:p>
        </p:txBody>
      </p:sp>
      <p:pic>
        <p:nvPicPr>
          <p:cNvPr id="9" name="Image 0" descr="/Users/yoon/Documents/데이터분석/charts/근거5_사고시간대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737360"/>
            <a:ext cx="6903720" cy="379476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7818120" y="1783080"/>
            <a:ext cx="1956816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7CDD4"/>
            </a:solidFill>
            <a:prstDash val="solid"/>
          </a:ln>
          <a:effectLst>
            <a:outerShdw sx="100000" sy="100000" kx="0" ky="0" algn="bl" rotWithShape="0" blurRad="88900" dist="25400" dir="5400000">
              <a:srgbClr val="AAB2BD">
                <a:alpha val="2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818120" y="1929384"/>
            <a:ext cx="19568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C039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2.65배</a:t>
            </a:r>
            <a:endParaRPr lang="en-US" sz="2500" dirty="0"/>
          </a:p>
        </p:txBody>
      </p:sp>
      <p:sp>
        <p:nvSpPr>
          <p:cNvPr id="12" name="Text 9"/>
          <p:cNvSpPr/>
          <p:nvPr/>
        </p:nvSpPr>
        <p:spPr>
          <a:xfrm>
            <a:off x="7882128" y="258775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D78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출근 사고율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D78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(포아송·비피크 대비)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9957816" y="1783080"/>
            <a:ext cx="1956816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7CDD4"/>
            </a:solidFill>
            <a:prstDash val="solid"/>
          </a:ln>
          <a:effectLst>
            <a:outerShdw sx="100000" sy="100000" kx="0" ky="0" algn="bl" rotWithShape="0" blurRad="88900" dist="25400" dir="5400000">
              <a:srgbClr val="AAB2BD">
                <a:alpha val="2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9957816" y="1929384"/>
            <a:ext cx="19568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C039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34.4%</a:t>
            </a:r>
            <a:endParaRPr lang="en-US" sz="2500" dirty="0"/>
          </a:p>
        </p:txBody>
      </p:sp>
      <p:sp>
        <p:nvSpPr>
          <p:cNvPr id="15" name="Text 12"/>
          <p:cNvSpPr/>
          <p:nvPr/>
        </p:nvSpPr>
        <p:spPr>
          <a:xfrm>
            <a:off x="10021824" y="258775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D78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출퇴근 4시간 집중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7818120" y="3291840"/>
            <a:ext cx="40690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08시 374건 최다, 퇴근 2.50배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사고 +81% 증가(2021→2024)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유형 75%가 혼잡 직결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48640" y="5623560"/>
            <a:ext cx="11091672" cy="603504"/>
          </a:xfrm>
          <a:prstGeom prst="roundRect">
            <a:avLst>
              <a:gd name="adj" fmla="val 7576"/>
            </a:avLst>
          </a:prstGeom>
          <a:solidFill>
            <a:srgbClr val="112E51"/>
          </a:solidFill>
          <a:ln/>
        </p:spPr>
      </p:sp>
      <p:sp>
        <p:nvSpPr>
          <p:cNvPr id="18" name="Text 15"/>
          <p:cNvSpPr/>
          <p:nvPr/>
        </p:nvSpPr>
        <p:spPr>
          <a:xfrm>
            <a:off x="868680" y="5623560"/>
            <a:ext cx="10424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DB2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혼잡 시간대 = 사고 다발 시간대, 데이터로 확증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48640" y="636422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D78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자료: 서울교통공사 최근5년 사고현황(2,837건); 팀 분석(포아송)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548640" y="65653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7CD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 지하철 혼잡·사고 정책 제언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D78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30175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EB6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9180576" y="301752"/>
            <a:ext cx="914400" cy="310896"/>
          </a:xfrm>
          <a:prstGeom prst="roundRect">
            <a:avLst>
              <a:gd name="adj" fmla="val 11765"/>
            </a:avLst>
          </a:prstGeom>
          <a:solidFill>
            <a:srgbClr val="112E51"/>
          </a:solidFill>
          <a:ln/>
        </p:spPr>
      </p:sp>
      <p:sp>
        <p:nvSpPr>
          <p:cNvPr id="4" name="Text 2"/>
          <p:cNvSpPr/>
          <p:nvPr/>
        </p:nvSpPr>
        <p:spPr>
          <a:xfrm>
            <a:off x="9180576" y="30175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131552" y="30175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EB6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대안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1082528" y="30175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EB6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2054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 06 · 역 유형 (K-means 군집)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112E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역은 업무지구·주거·상시형 3가지로 나뉜다 → 유형별 대책</a:t>
            </a:r>
            <a:endParaRPr lang="en-US" sz="2100" dirty="0"/>
          </a:p>
        </p:txBody>
      </p:sp>
      <p:pic>
        <p:nvPicPr>
          <p:cNvPr id="9" name="Image 0" descr="/Users/yoon/Documents/데이터분석/charts/근거6_군집패턴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737360"/>
            <a:ext cx="6903720" cy="379476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7818120" y="1783080"/>
            <a:ext cx="1956816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7CDD4"/>
            </a:solidFill>
            <a:prstDash val="solid"/>
          </a:ln>
          <a:effectLst>
            <a:outerShdw sx="100000" sy="100000" kx="0" ky="0" algn="bl" rotWithShape="0" blurRad="88900" dist="25400" dir="5400000">
              <a:srgbClr val="AAB2BD">
                <a:alpha val="2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818120" y="1929384"/>
            <a:ext cx="19568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12E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3유형</a:t>
            </a:r>
            <a:endParaRPr lang="en-US" sz="2500" dirty="0"/>
          </a:p>
        </p:txBody>
      </p:sp>
      <p:sp>
        <p:nvSpPr>
          <p:cNvPr id="12" name="Text 9"/>
          <p:cNvSpPr/>
          <p:nvPr/>
        </p:nvSpPr>
        <p:spPr>
          <a:xfrm>
            <a:off x="7882128" y="258775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D78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K-means 군집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7818120" y="3291840"/>
            <a:ext cx="40690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업무지구형 50역 (강남·여의도)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주거형 131역 (신림·구로)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상시·환승형 76역 (잠실·서울역)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48640" y="5623560"/>
            <a:ext cx="11091672" cy="603504"/>
          </a:xfrm>
          <a:prstGeom prst="roundRect">
            <a:avLst>
              <a:gd name="adj" fmla="val 7576"/>
            </a:avLst>
          </a:prstGeom>
          <a:solidFill>
            <a:srgbClr val="112E51"/>
          </a:solidFill>
          <a:ln/>
        </p:spPr>
      </p:sp>
      <p:sp>
        <p:nvSpPr>
          <p:cNvPr id="15" name="Text 12"/>
          <p:cNvSpPr/>
          <p:nvPr/>
        </p:nvSpPr>
        <p:spPr>
          <a:xfrm>
            <a:off x="868680" y="5623560"/>
            <a:ext cx="10424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DB2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혼잡 대책은 역마다가 아니라 '유형별 맞춤'으로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48640" y="636422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D78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자료: 서울 열린데이터광장(2026); 팀 분석(K-means)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548640" y="65653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7CD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 지하철 혼잡·사고 정책 제언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D78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30175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EB6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9180576" y="301752"/>
            <a:ext cx="914400" cy="310896"/>
          </a:xfrm>
          <a:prstGeom prst="roundRect">
            <a:avLst>
              <a:gd name="adj" fmla="val 11765"/>
            </a:avLst>
          </a:prstGeom>
          <a:solidFill>
            <a:srgbClr val="112E51"/>
          </a:solidFill>
          <a:ln/>
        </p:spPr>
      </p:sp>
      <p:sp>
        <p:nvSpPr>
          <p:cNvPr id="4" name="Text 2"/>
          <p:cNvSpPr/>
          <p:nvPr/>
        </p:nvSpPr>
        <p:spPr>
          <a:xfrm>
            <a:off x="9180576" y="30175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131552" y="30175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EB6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대안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1082528" y="30175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EB6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2054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 · 구조적 원인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112E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반복되나 — 노후 설비가 사고·장애를 키운다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548640" y="1920240"/>
            <a:ext cx="356616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7CDD4"/>
            </a:solidFill>
            <a:prstDash val="solid"/>
          </a:ln>
          <a:effectLst>
            <a:outerShdw sx="100000" sy="100000" kx="0" ky="0" algn="bl" rotWithShape="0" blurRad="88900" dist="25400" dir="5400000">
              <a:srgbClr val="AAB2BD">
                <a:alpha val="2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2066544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C039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56.5%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612648" y="2724912"/>
            <a:ext cx="3438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D78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21년 이상 노후 전동차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D78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(기대수명 25~30년)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315968" y="1920240"/>
            <a:ext cx="356616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7CDD4"/>
            </a:solidFill>
            <a:prstDash val="solid"/>
          </a:ln>
          <a:effectLst>
            <a:outerShdw sx="100000" sy="100000" kx="0" ky="0" algn="bl" rotWithShape="0" blurRad="88900" dist="25400" dir="5400000">
              <a:srgbClr val="AAB2BD">
                <a:alpha val="2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315968" y="2066544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C039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69.5%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4379976" y="2724912"/>
            <a:ext cx="3438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D78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내구연한 초과 전선로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D78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(케이블 3,158km)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083296" y="1920240"/>
            <a:ext cx="356616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7CDD4"/>
            </a:solidFill>
            <a:prstDash val="solid"/>
          </a:ln>
          <a:effectLst>
            <a:outerShdw sx="100000" sy="100000" kx="0" ky="0" algn="bl" rotWithShape="0" blurRad="88900" dist="25400" dir="5400000">
              <a:srgbClr val="AAB2BD">
                <a:alpha val="2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083296" y="2066544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12E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+5.4%</a:t>
            </a: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8147304" y="2724912"/>
            <a:ext cx="3438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D78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운행장애 증가('23년 136건)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D78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신호장애 +31%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3611880"/>
            <a:ext cx="11091672" cy="1691640"/>
          </a:xfrm>
          <a:prstGeom prst="roundRect">
            <a:avLst>
              <a:gd name="adj" fmla="val 3243"/>
            </a:avLst>
          </a:prstGeom>
          <a:solidFill>
            <a:srgbClr val="F4F5F6"/>
          </a:solidFill>
          <a:ln w="12700">
            <a:solidFill>
              <a:srgbClr val="C7CDD4"/>
            </a:solidFill>
            <a:prstDash val="solid"/>
          </a:ln>
          <a:effectLst>
            <a:outerShdw sx="100000" sy="100000" kx="0" ky="0" algn="bl" rotWithShape="0" blurRad="88900" dist="25400" dir="5400000">
              <a:srgbClr val="AAB2BD">
                <a:alpha val="2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22960" y="3749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2E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노후가 장애의 절반 이상 — 교체는 진행 중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68680" y="4133088"/>
            <a:ext cx="104241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운행장애 원인: 차량 32.6% + 신호 20.9% = 절반 이상이 노후 설비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노후 전동차 교체: 2029년까지 총 3조 8,506억원 투입(진행 중)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5623560"/>
            <a:ext cx="11091672" cy="603504"/>
          </a:xfrm>
          <a:prstGeom prst="roundRect">
            <a:avLst>
              <a:gd name="adj" fmla="val 7576"/>
            </a:avLst>
          </a:prstGeom>
          <a:solidFill>
            <a:srgbClr val="112E51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5623560"/>
            <a:ext cx="10424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DB2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노후 설비 = 사고의 구조적 뿌리 → 예방정비·교체 예산이 근본 대책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636422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D78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자료: 국정감사 자료·철도경제신문; 서울교통공사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48640" y="65653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7CD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 지하철 혼잡·사고 정책 제언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D78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30175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EB6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9180576" y="30175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EB6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10131552" y="301752"/>
            <a:ext cx="914400" cy="310896"/>
          </a:xfrm>
          <a:prstGeom prst="roundRect">
            <a:avLst>
              <a:gd name="adj" fmla="val 11765"/>
            </a:avLst>
          </a:prstGeom>
          <a:solidFill>
            <a:srgbClr val="112E51"/>
          </a:solidFill>
          <a:ln/>
        </p:spPr>
      </p:sp>
      <p:sp>
        <p:nvSpPr>
          <p:cNvPr id="5" name="Text 3"/>
          <p:cNvSpPr/>
          <p:nvPr/>
        </p:nvSpPr>
        <p:spPr>
          <a:xfrm>
            <a:off x="10131552" y="30175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대안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1082528" y="30175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EB6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2054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대안 비교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112E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투트랙인가 — 대안 비교 평가</a:t>
            </a:r>
            <a:endParaRPr lang="en-US" sz="21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80160" y="1920240"/>
          <a:ext cx="96012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286000"/>
                <a:gridCol w="2286000"/>
                <a:gridCol w="2286000"/>
              </a:tblGrid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평가 기준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E5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현상 유지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E5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단일(혼잡만)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E5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투트랙(혼잡+사고)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E51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12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효과성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✕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△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78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◎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E51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12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효율성(집중투자)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✕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△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78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◎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E51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12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안전(사고 대응)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✕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✕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◎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E51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12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실현가능성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◎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E5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△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78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7882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1280160" y="489204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D78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◎ 우수   ○ 양호   △ 보통   ✕ 미흡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48640" y="5623560"/>
            <a:ext cx="11091672" cy="603504"/>
          </a:xfrm>
          <a:prstGeom prst="roundRect">
            <a:avLst>
              <a:gd name="adj" fmla="val 7576"/>
            </a:avLst>
          </a:prstGeom>
          <a:solidFill>
            <a:srgbClr val="112E51"/>
          </a:solidFill>
          <a:ln/>
        </p:spPr>
      </p:sp>
      <p:sp>
        <p:nvSpPr>
          <p:cNvPr id="12" name="Text 9"/>
          <p:cNvSpPr/>
          <p:nvPr/>
        </p:nvSpPr>
        <p:spPr>
          <a:xfrm>
            <a:off x="868680" y="5623560"/>
            <a:ext cx="10424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DB2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투트랙만이 '혼잡 완화'와 '사고 대응'을 동시에 — 안전 기준에서 유일한 해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48640" y="636422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D78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자료: 정책분석 4대 기준(효과성·효율성·형평성·실현가능성)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548640" y="65653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7CD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 지하철 혼잡·사고 정책 제언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D78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30175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EB6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9180576" y="30175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EB6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10131552" y="301752"/>
            <a:ext cx="914400" cy="310896"/>
          </a:xfrm>
          <a:prstGeom prst="roundRect">
            <a:avLst>
              <a:gd name="adj" fmla="val 11765"/>
            </a:avLst>
          </a:prstGeom>
          <a:solidFill>
            <a:srgbClr val="112E51"/>
          </a:solidFill>
          <a:ln/>
        </p:spPr>
      </p:sp>
      <p:sp>
        <p:nvSpPr>
          <p:cNvPr id="5" name="Text 3"/>
          <p:cNvSpPr/>
          <p:nvPr/>
        </p:nvSpPr>
        <p:spPr>
          <a:xfrm>
            <a:off x="10131552" y="30175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대안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1082528" y="30175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EB6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2054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제안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112E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취약 지점 우선 투자 + 사고·수요 대응 — 투트랙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548640" y="1783080"/>
            <a:ext cx="5394960" cy="3657600"/>
          </a:xfrm>
          <a:prstGeom prst="roundRect">
            <a:avLst>
              <a:gd name="adj" fmla="val 1500"/>
            </a:avLst>
          </a:prstGeom>
          <a:solidFill>
            <a:srgbClr val="F4F5F6"/>
          </a:solidFill>
          <a:ln w="12700">
            <a:solidFill>
              <a:srgbClr val="C7CDD4"/>
            </a:solidFill>
            <a:prstDash val="solid"/>
          </a:ln>
          <a:effectLst>
            <a:outerShdw sx="100000" sy="100000" kx="0" ky="0" algn="bl" rotWithShape="0" blurRad="88900" dist="25400" dir="5400000">
              <a:srgbClr val="AAB2BD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1783080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112E51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1783080"/>
            <a:ext cx="4846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🚇 서울교통공사 (운영·실행)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68680" y="2715768"/>
            <a:ext cx="47548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E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집중역·역유형별 맞춤 혼잡 관리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E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사고·급정차 시 비상 혼잡 대응 프로토콜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E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신호·전기 설비 예방정비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E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집중역 동선·승강설비 개선, 피크 증차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45352" y="1783080"/>
            <a:ext cx="5394960" cy="3657600"/>
          </a:xfrm>
          <a:prstGeom prst="roundRect">
            <a:avLst>
              <a:gd name="adj" fmla="val 1500"/>
            </a:avLst>
          </a:prstGeom>
          <a:solidFill>
            <a:srgbClr val="F4F5F6"/>
          </a:solidFill>
          <a:ln w="12700">
            <a:solidFill>
              <a:srgbClr val="C7CDD4"/>
            </a:solidFill>
            <a:prstDash val="solid"/>
          </a:ln>
          <a:effectLst>
            <a:outerShdw sx="100000" sy="100000" kx="0" ky="0" algn="bl" rotWithShape="0" blurRad="88900" dist="25400" dir="5400000">
              <a:srgbClr val="AAB2BD">
                <a:alpha val="2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45352" y="1783080"/>
            <a:ext cx="5394960" cy="713232"/>
          </a:xfrm>
          <a:prstGeom prst="roundRect">
            <a:avLst>
              <a:gd name="adj" fmla="val 7692"/>
            </a:avLst>
          </a:prstGeom>
          <a:solidFill>
            <a:srgbClr val="112E51"/>
          </a:solidFill>
          <a:ln/>
        </p:spPr>
      </p:sp>
      <p:sp>
        <p:nvSpPr>
          <p:cNvPr id="15" name="Text 13"/>
          <p:cNvSpPr/>
          <p:nvPr/>
        </p:nvSpPr>
        <p:spPr>
          <a:xfrm>
            <a:off x="6519672" y="1783080"/>
            <a:ext cx="4846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🏛️ 국회 국토교통위 (입법·예산)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565392" y="2715768"/>
            <a:ext cx="47548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E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시차출퇴근·유연근무 인센티브(수요 분산)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E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노후 신호·전동차 교체 예산 확보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E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이상상황 대응 기준 법제화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E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광역교통·직주근접 도시계획 연계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5623560"/>
            <a:ext cx="11091672" cy="603504"/>
          </a:xfrm>
          <a:prstGeom prst="roundRect">
            <a:avLst>
              <a:gd name="adj" fmla="val 7576"/>
            </a:avLst>
          </a:prstGeom>
          <a:solidFill>
            <a:srgbClr val="112E51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5623560"/>
            <a:ext cx="10424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DB2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 주체(공사)와 제도·예산 주체(국회)가 함께 가야 완성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65653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7CD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 지하철 혼잡·사고 정책 제언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D78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30175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EB6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9180576" y="30175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EB6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10131552" y="301752"/>
            <a:ext cx="914400" cy="310896"/>
          </a:xfrm>
          <a:prstGeom prst="roundRect">
            <a:avLst>
              <a:gd name="adj" fmla="val 11765"/>
            </a:avLst>
          </a:prstGeom>
          <a:solidFill>
            <a:srgbClr val="112E51"/>
          </a:solidFill>
          <a:ln/>
        </p:spPr>
      </p:sp>
      <p:sp>
        <p:nvSpPr>
          <p:cNvPr id="5" name="Text 3"/>
          <p:cNvSpPr/>
          <p:nvPr/>
        </p:nvSpPr>
        <p:spPr>
          <a:xfrm>
            <a:off x="10131552" y="30175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대안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1082528" y="30175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EB6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2054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제안 · 정책 수단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112E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혼잡 분산 정책 카드 — 수요·공급·가격 3축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548640" y="1828800"/>
            <a:ext cx="3529584" cy="3520440"/>
          </a:xfrm>
          <a:prstGeom prst="roundRect">
            <a:avLst>
              <a:gd name="adj" fmla="val 1558"/>
            </a:avLst>
          </a:prstGeom>
          <a:solidFill>
            <a:srgbClr val="F4F5F6"/>
          </a:solidFill>
          <a:ln w="12700">
            <a:solidFill>
              <a:srgbClr val="C7CDD4"/>
            </a:solidFill>
            <a:prstDash val="solid"/>
          </a:ln>
          <a:effectLst>
            <a:outerShdw sx="100000" sy="100000" kx="0" ky="0" algn="bl" rotWithShape="0" blurRad="88900" dist="25400" dir="5400000">
              <a:srgbClr val="AAB2BD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1828800"/>
            <a:ext cx="3529584" cy="640080"/>
          </a:xfrm>
          <a:prstGeom prst="roundRect">
            <a:avLst>
              <a:gd name="adj" fmla="val 8571"/>
            </a:avLst>
          </a:prstGeom>
          <a:solidFill>
            <a:srgbClr val="205493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828800"/>
            <a:ext cx="35295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수요 관리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04672" y="2670048"/>
            <a:ext cx="30175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시차출퇴근·유연근무 장려금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공공기관 시차출퇴근 의무화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교통유발부담금 감면(대형 빌딩)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261104" y="1828800"/>
            <a:ext cx="3529584" cy="3520440"/>
          </a:xfrm>
          <a:prstGeom prst="roundRect">
            <a:avLst>
              <a:gd name="adj" fmla="val 1558"/>
            </a:avLst>
          </a:prstGeom>
          <a:solidFill>
            <a:srgbClr val="F4F5F6"/>
          </a:solidFill>
          <a:ln w="12700">
            <a:solidFill>
              <a:srgbClr val="C7CDD4"/>
            </a:solidFill>
            <a:prstDash val="solid"/>
          </a:ln>
          <a:effectLst>
            <a:outerShdw sx="100000" sy="100000" kx="0" ky="0" algn="bl" rotWithShape="0" blurRad="88900" dist="25400" dir="5400000">
              <a:srgbClr val="AAB2BD">
                <a:alpha val="2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261104" y="1828800"/>
            <a:ext cx="3529584" cy="640080"/>
          </a:xfrm>
          <a:prstGeom prst="roundRect">
            <a:avLst>
              <a:gd name="adj" fmla="val 8571"/>
            </a:avLst>
          </a:prstGeom>
          <a:solidFill>
            <a:srgbClr val="205493"/>
          </a:solidFill>
          <a:ln/>
        </p:spPr>
      </p:sp>
      <p:sp>
        <p:nvSpPr>
          <p:cNvPr id="15" name="Text 13"/>
          <p:cNvSpPr/>
          <p:nvPr/>
        </p:nvSpPr>
        <p:spPr>
          <a:xfrm>
            <a:off x="4261104" y="1828800"/>
            <a:ext cx="35295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공급·하드웨어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17136" y="2670048"/>
            <a:ext cx="30175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의자 없는(접이식) 지하철 칸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급행·셔틀 탄력 배차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환승역 일방통행·동선 안내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973568" y="1828800"/>
            <a:ext cx="3529584" cy="3520440"/>
          </a:xfrm>
          <a:prstGeom prst="roundRect">
            <a:avLst>
              <a:gd name="adj" fmla="val 1558"/>
            </a:avLst>
          </a:prstGeom>
          <a:solidFill>
            <a:srgbClr val="F4F5F6"/>
          </a:solidFill>
          <a:ln w="12700">
            <a:solidFill>
              <a:srgbClr val="C7CDD4"/>
            </a:solidFill>
            <a:prstDash val="solid"/>
          </a:ln>
          <a:effectLst>
            <a:outerShdw sx="100000" sy="100000" kx="0" ky="0" algn="bl" rotWithShape="0" blurRad="88900" dist="25400" dir="5400000">
              <a:srgbClr val="AAB2BD">
                <a:alpha val="2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973568" y="1828800"/>
            <a:ext cx="3529584" cy="640080"/>
          </a:xfrm>
          <a:prstGeom prst="roundRect">
            <a:avLst>
              <a:gd name="adj" fmla="val 8571"/>
            </a:avLst>
          </a:prstGeom>
          <a:solidFill>
            <a:srgbClr val="205493"/>
          </a:solidFill>
          <a:ln/>
        </p:spPr>
      </p:sp>
      <p:sp>
        <p:nvSpPr>
          <p:cNvPr id="19" name="Text 17"/>
          <p:cNvSpPr/>
          <p:nvPr/>
        </p:nvSpPr>
        <p:spPr>
          <a:xfrm>
            <a:off x="7973568" y="1828800"/>
            <a:ext cx="35295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가격·기술 제어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229600" y="2670048"/>
            <a:ext cx="30175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혼잡통행료·혼잡세→대중교통 재투자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실시간 혼잡도 연동 요금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급행/일반 요금 차등화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5623560"/>
            <a:ext cx="11091672" cy="603504"/>
          </a:xfrm>
          <a:prstGeom prst="roundRect">
            <a:avLst>
              <a:gd name="adj" fmla="val 7576"/>
            </a:avLst>
          </a:prstGeom>
          <a:solidFill>
            <a:srgbClr val="112E51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5623560"/>
            <a:ext cx="10424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DB2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피크(2호선·08·18시·도심·역유형)에 맞춰 정책 카드를 조합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636422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D78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자료: 고용노동부·서울시·국토부 정책 사례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48640" y="65653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7CD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 지하철 혼잡·사고 정책 제언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D78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30175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EB6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9180576" y="30175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EB6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131552" y="30175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EB6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대안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11082528" y="301752"/>
            <a:ext cx="914400" cy="310896"/>
          </a:xfrm>
          <a:prstGeom prst="roundRect">
            <a:avLst>
              <a:gd name="adj" fmla="val 11765"/>
            </a:avLst>
          </a:prstGeom>
          <a:solidFill>
            <a:srgbClr val="112E51"/>
          </a:solidFill>
          <a:ln/>
        </p:spPr>
      </p:sp>
      <p:sp>
        <p:nvSpPr>
          <p:cNvPr id="6" name="Text 4"/>
          <p:cNvSpPr/>
          <p:nvPr/>
        </p:nvSpPr>
        <p:spPr>
          <a:xfrm>
            <a:off x="11082528" y="30175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2054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 · 해외 벤치마크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112E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검증된 해법이 있다 — 해외 도시의 성과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548640" y="1965960"/>
            <a:ext cx="2651760" cy="265176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C7CDD4"/>
            </a:solidFill>
            <a:prstDash val="solid"/>
          </a:ln>
          <a:effectLst>
            <a:outerShdw sx="100000" sy="100000" kx="0" ky="0" algn="bl" rotWithShape="0" blurRad="88900" dist="25400" dir="5400000">
              <a:srgbClr val="AAB2BD">
                <a:alpha val="2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222199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2E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싱가포르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85800" y="27432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D78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신호(CBTC) 교체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35204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신뢰성 1~10배↑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346704" y="1965960"/>
            <a:ext cx="2651760" cy="265176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C7CDD4"/>
            </a:solidFill>
            <a:prstDash val="solid"/>
          </a:ln>
          <a:effectLst>
            <a:outerShdw sx="100000" sy="100000" kx="0" ky="0" algn="bl" rotWithShape="0" blurRad="88900" dist="25400" dir="5400000">
              <a:srgbClr val="AAB2BD">
                <a:alpha val="2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346704" y="222199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2E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뉴욕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483864" y="27432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D78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실시간·칸별 정보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38144" y="35204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체감 대기 50%↓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144768" y="1965960"/>
            <a:ext cx="2651760" cy="265176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C7CDD4"/>
            </a:solidFill>
            <a:prstDash val="solid"/>
          </a:ln>
          <a:effectLst>
            <a:outerShdw sx="100000" sy="100000" kx="0" ky="0" algn="bl" rotWithShape="0" blurRad="88900" dist="25400" dir="5400000">
              <a:srgbClr val="AAB2BD">
                <a:alpha val="2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144768" y="222199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2E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런던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281928" y="27432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D78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노후 4개선 현대화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36208" y="35204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수송 용량 33%↑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942832" y="1965960"/>
            <a:ext cx="2651760" cy="265176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C7CDD4"/>
            </a:solidFill>
            <a:prstDash val="solid"/>
          </a:ln>
          <a:effectLst>
            <a:outerShdw sx="100000" sy="100000" kx="0" ky="0" algn="bl" rotWithShape="0" blurRad="88900" dist="25400" dir="5400000">
              <a:srgbClr val="AAB2BD">
                <a:alpha val="2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942832" y="222199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2E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홍콩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079992" y="27432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D78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장애 벌과금→운임 환원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034272" y="35204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정시율 99.9%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548640" y="5623560"/>
            <a:ext cx="11091672" cy="603504"/>
          </a:xfrm>
          <a:prstGeom prst="roundRect">
            <a:avLst>
              <a:gd name="adj" fmla="val 7576"/>
            </a:avLst>
          </a:prstGeom>
          <a:solidFill>
            <a:srgbClr val="112E51"/>
          </a:solidFill>
          <a:ln/>
        </p:spPr>
      </p:sp>
      <p:sp>
        <p:nvSpPr>
          <p:cNvPr id="26" name="Text 24"/>
          <p:cNvSpPr/>
          <p:nvPr/>
        </p:nvSpPr>
        <p:spPr>
          <a:xfrm>
            <a:off x="868680" y="5623560"/>
            <a:ext cx="10424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DB2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실시간 정보 + 노후 신호 교체 + 책임성(환원) = 입증된 조합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8640" y="636422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D78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자료: LTA·TfL·MTA·SCMP 등 해외 교통당국 발표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48640" y="65653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7CD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 지하철 혼잡·사고 정책 제언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D78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30175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EB6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9180576" y="30175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EB6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131552" y="30175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EB6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대안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11082528" y="301752"/>
            <a:ext cx="914400" cy="310896"/>
          </a:xfrm>
          <a:prstGeom prst="roundRect">
            <a:avLst>
              <a:gd name="adj" fmla="val 11765"/>
            </a:avLst>
          </a:prstGeom>
          <a:solidFill>
            <a:srgbClr val="112E51"/>
          </a:solidFill>
          <a:ln/>
        </p:spPr>
      </p:sp>
      <p:sp>
        <p:nvSpPr>
          <p:cNvPr id="6" name="Text 4"/>
          <p:cNvSpPr/>
          <p:nvPr/>
        </p:nvSpPr>
        <p:spPr>
          <a:xfrm>
            <a:off x="11082528" y="30175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20549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 · Action Plan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112E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실행계획 — 목표·이행방법·기한·재원 (공약 수준 완결성)</a:t>
            </a:r>
            <a:endParaRPr lang="en-US" sz="21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795528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463040"/>
                <a:gridCol w="2743200"/>
                <a:gridCol w="822960"/>
                <a:gridCol w="1188720"/>
              </a:tblGrid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제안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E5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목표(KPI)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E5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이행 방법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E5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기한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E5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재원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E5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12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집중역 혼잡·사고 대응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12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안전사고 0건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12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실시간 안내+안전인력+예방정비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12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단기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12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공사 운영비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12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수요 분산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12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피크 ○% 분산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12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시차출퇴근 인센티브+증차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12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중기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12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국비·기업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12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노후 설비 교체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12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사고 건수↓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12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신호·전동차 교체+안전기준 법제화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12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중장기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12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3.85조(국비)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12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광역·직주근접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12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도심 집중도↓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12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광역교통·도시계획 연계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12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장기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12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국비·지방비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8732520" y="1783080"/>
            <a:ext cx="2926080" cy="3611880"/>
          </a:xfrm>
          <a:prstGeom prst="roundRect">
            <a:avLst>
              <a:gd name="adj" fmla="val 1875"/>
            </a:avLst>
          </a:prstGeom>
          <a:solidFill>
            <a:srgbClr val="F4F5F6"/>
          </a:solidFill>
          <a:ln w="12700">
            <a:solidFill>
              <a:srgbClr val="C7CDD4"/>
            </a:solidFill>
            <a:prstDash val="solid"/>
          </a:ln>
          <a:effectLst>
            <a:outerShdw sx="100000" sy="100000" kx="0" ky="0" algn="bl" rotWithShape="0" blurRad="88900" dist="25400" dir="5400000">
              <a:srgbClr val="AAB2BD">
                <a:alpha val="2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8869680" y="19202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2E5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💸 비용편익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8732520" y="237744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C039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81.3조원</a:t>
            </a:r>
            <a:endParaRPr lang="en-US" sz="2700" dirty="0"/>
          </a:p>
        </p:txBody>
      </p:sp>
      <p:sp>
        <p:nvSpPr>
          <p:cNvPr id="13" name="Text 10"/>
          <p:cNvSpPr/>
          <p:nvPr/>
        </p:nvSpPr>
        <p:spPr>
          <a:xfrm>
            <a:off x="8869680" y="301752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D78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 교통혼잡비용(GDP 3.37%)</a:t>
            </a:r>
            <a:endParaRPr lang="en-US" sz="11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D78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 줄여야 할 사회적 손실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869680" y="388620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정책 효과(해외): 분산 2~7%</a:t>
            </a:r>
            <a:endParaRPr lang="en-US" sz="11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1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혼잡 완화 투자는 비용이 아닌 '회수'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48640" y="5623560"/>
            <a:ext cx="11091672" cy="603504"/>
          </a:xfrm>
          <a:prstGeom prst="roundRect">
            <a:avLst>
              <a:gd name="adj" fmla="val 7576"/>
            </a:avLst>
          </a:prstGeom>
          <a:solidFill>
            <a:srgbClr val="112E51"/>
          </a:solidFill>
          <a:ln/>
        </p:spPr>
      </p:sp>
      <p:sp>
        <p:nvSpPr>
          <p:cNvPr id="16" name="Text 13"/>
          <p:cNvSpPr/>
          <p:nvPr/>
        </p:nvSpPr>
        <p:spPr>
          <a:xfrm>
            <a:off x="868680" y="5623560"/>
            <a:ext cx="10424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DB2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근거1~6 → 제안 → 기대효과가 1:1로 연결된 실행계획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48640" y="636422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D78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자료: KOTI 교통혼잡비용(2023); 해외 정책 효과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548640" y="65653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7CD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 지하철 혼잡·사고 정책 제언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D78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12E5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828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혼잡과 사고가 겹치는 취약 지점을 데이터로 짚었다.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822960" y="27432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이제, 우선순위 투자로 안전을 지킬 차례다.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" y="38404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상위 10% 역 28.5% 집중   ·   출근 사고율 2.65배   ·   교통혼잡비용 연 81.3조원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41248" y="4498848"/>
            <a:ext cx="2926080" cy="0"/>
          </a:xfrm>
          <a:prstGeom prst="line">
            <a:avLst/>
          </a:prstGeom>
          <a:noFill/>
          <a:ln w="19050">
            <a:solidFill>
              <a:srgbClr val="3A557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4736592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4B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분석: 민토 SCQA·피라미드 · 기초통계(ANOVA·효과크기·Tukey·포아송) · K-means 군집 · Wilke 시각화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5084064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4B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자료: 서울 열린데이터광장 · 공공데이터포털 · 한국교통연구원(KOTI) · 언론 보도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서울 지하철 혼잡·사고 정책 제언</dc:title>
  <dc:subject>PptxGenJS Presentation</dc:subject>
  <dc:creator>데이터분석팀</dc:creator>
  <cp:lastModifiedBy>데이터분석팀</cp:lastModifiedBy>
  <cp:revision>1</cp:revision>
  <dcterms:created xsi:type="dcterms:W3CDTF">2026-06-25T15:17:53Z</dcterms:created>
  <dcterms:modified xsi:type="dcterms:W3CDTF">2026-06-25T15:17:53Z</dcterms:modified>
</cp:coreProperties>
</file>