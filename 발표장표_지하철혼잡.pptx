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제언 보고서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64592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출퇴근, 혼잡도 사고도</a:t>
            </a:r>
            <a:endParaRPr lang="en-US" sz="4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곳에 몰린다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데이터 분석과 정책 제언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1~9호선 · 2015–2026 · 대상: 정책입안자(서울교통공사·국회 국토교통위)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48920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82,352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77240" y="5559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승하차 데이터 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48920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2,837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4343400" y="5559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5년 사고 건수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48920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5029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28노선·600역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7909560" y="5559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범위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정의 · 바바라 민토 SCQA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평소 혼잡한 곳에 사고가 겹치면 '안전 위협'이 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039112"/>
            <a:ext cx="676656" cy="676656"/>
          </a:xfrm>
          <a:prstGeom prst="ellipse">
            <a:avLst/>
          </a:prstGeom>
          <a:solidFill>
            <a:srgbClr val="457B9D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04672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7B9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4672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코로나로 급감한 수요가 2024년 2019년의 91%까지 회복 → 출퇴근 혼잡 재심화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346704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02736" y="2039112"/>
            <a:ext cx="676656" cy="676656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7" name="Text 15"/>
          <p:cNvSpPr/>
          <p:nvPr/>
        </p:nvSpPr>
        <p:spPr>
          <a:xfrm>
            <a:off x="3602736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602736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02736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혼잡한 노선·시간대에 사고·급정차가 겹치면 혼잡 폭증 → 안전 위험 (2025.7 2호선·8 4호선 출근 사고)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44768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2039112"/>
            <a:ext cx="676656" cy="676656"/>
          </a:xfrm>
          <a:prstGeom prst="ellipse">
            <a:avLst/>
          </a:prstGeom>
          <a:solidFill>
            <a:srgbClr val="0F2B46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0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어느 노선·역·시간대가 '사고 시 가장 위험한 취약 지점'인가?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42832" y="1783080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198864" y="2039112"/>
            <a:ext cx="676656" cy="67665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/>
          <p:nvPr/>
        </p:nvSpPr>
        <p:spPr>
          <a:xfrm>
            <a:off x="9198864" y="2084832"/>
            <a:ext cx="6766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9198864" y="2862072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198864" y="3291840"/>
            <a:ext cx="213969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2호선·도심·출퇴근에 혼잡·사고 동시 집중 → 취약 지점 우선 투자 + 사고·수요 대응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질문: 혼잡과 사고가 겹치는 '취약 지점'은 어디인가?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3" name="Text 1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ALERT · 혼잡 = 안전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출근길 혼잡은 '압사 위험' 수준이다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6.6명/㎡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03504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구로역 혼잡도 252%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이태원 참사 밀집도 수준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15968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15968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200%+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4370832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김포골드라인 출근 혼잡도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(수년째 개선 안 됨)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3296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83296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170%↑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138160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이동 불가·얼굴 밀착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(150%면 어깨 부딪침)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11091672" cy="1737360"/>
          </a:xfrm>
          <a:prstGeom prst="roundRect">
            <a:avLst>
              <a:gd name="adj" fmla="val 3684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출근길 사고 (한 달 새 반복)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41605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2025.7.4  2호선 서울대입구역 신호장애 → 약 4시간 운행 차질, 승강장·계단 가득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2025.8.4  4호선 평촌역 전기 장애 → 350명 환승, 7개 열차 지연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혼잡한 2·4호선·출근 피크에 사고 발생 → '평시 혼잡 = 사고 취약성'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94192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01 · 이용객 추이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코로나로 –27% 급감 후 빠르게 재혼잡 (2024년 91% 회복)</a:t>
            </a:r>
            <a:endParaRPr lang="en-US" sz="2200" dirty="0"/>
          </a:p>
        </p:txBody>
      </p:sp>
      <p:pic>
        <p:nvPicPr>
          <p:cNvPr id="10" name="Image 0" descr="/Users/yoon/Documents/데이터분석/charts/근거1_연도추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–27.4%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2020 코로나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A9D8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91%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 회복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수요가 다시 출퇴근에 집중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평시 부하↑ → 사고 시 위험↑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 충격에서 회복 = 혼잡·사고 리스크 재상승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94192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02 · 호선별 비교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혼잡은 2호선에 압도적으로 집중된다 (통계적으로 유의)</a:t>
            </a:r>
            <a:endParaRPr lang="en-US" sz="2200" dirty="0"/>
          </a:p>
        </p:txBody>
      </p:sp>
      <p:pic>
        <p:nvPicPr>
          <p:cNvPr id="10" name="Image 0" descr="/Users/yoon/Documents/데이터분석/charts/근거2_호선Top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이용 1위 (2위 2배+)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p&lt;0.001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ANOVA F=14.8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호선 간 차이 = 우연 아닌 구조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 = 도심 업무지구 순환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한정된 예산은 2호선·집중 호선부터 — 선택과 집중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94192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03 · 시간대 패턴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08시·퇴근 18시 — 뾰족한 출퇴근 쌍봉 피크</a:t>
            </a:r>
            <a:endParaRPr lang="en-US" sz="2200" dirty="0"/>
          </a:p>
        </p:txBody>
      </p:sp>
      <p:pic>
        <p:nvPicPr>
          <p:cNvPr id="10" name="Image 0" descr="/Users/yoon/Documents/데이터분석/charts/근거3_시간대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출근 하차피크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457B9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18시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퇴근 승차피크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유입형(업무): 시청·종각·광화문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유출형(주거): 외곽역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피크 분산이 핵심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 분산 정책은 08·18시 두 봉우리를 겨냥해야 효과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94192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04 · 공간 분포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10% 역이 전체의 28.5% — 도심·강남권 집중</a:t>
            </a:r>
            <a:endParaRPr lang="en-US" sz="2200" dirty="0"/>
          </a:p>
        </p:txBody>
      </p:sp>
      <p:pic>
        <p:nvPicPr>
          <p:cNvPr id="10" name="Image 0" descr="/Users/yoon/Documents/데이터분석/charts/근거4_지도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5029200" cy="4160520"/>
          </a:xfrm>
          <a:prstGeom prst="rect">
            <a:avLst/>
          </a:prstGeom>
        </p:spPr>
      </p:pic>
      <p:pic>
        <p:nvPicPr>
          <p:cNvPr id="11" name="Image 1" descr="/Users/yoon/Documents/데이터분석/charts/근거4_역Top1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23560" y="1783080"/>
            <a:ext cx="4572000" cy="265176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715000" y="4754880"/>
            <a:ext cx="21945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715000" y="488289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28.5%</a:t>
            </a:r>
            <a:endParaRPr lang="en-US" sz="2700" dirty="0"/>
          </a:p>
        </p:txBody>
      </p:sp>
      <p:sp>
        <p:nvSpPr>
          <p:cNvPr id="14" name="Text 10"/>
          <p:cNvSpPr/>
          <p:nvPr/>
        </p:nvSpPr>
        <p:spPr>
          <a:xfrm>
            <a:off x="5769864" y="5541264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10% 역 집중도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183880" y="4754880"/>
            <a:ext cx="3520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Top: 잠실·서울역·고속터미널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홍대입구·강남 (환승 허브)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소수 지점 집중 관리 가능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94192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05 · 사고 분석 (5년 2,837건)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사고도 같은 시간·같은 역에 몰린다 (08시 최다, 출퇴근 34.4%)</a:t>
            </a:r>
            <a:endParaRPr lang="en-US" sz="2200" dirty="0"/>
          </a:p>
        </p:txBody>
      </p:sp>
      <p:pic>
        <p:nvPicPr>
          <p:cNvPr id="10" name="Image 0" descr="/Users/yoon/Documents/데이터분석/charts/근거5_사고시간대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737360"/>
            <a:ext cx="6949440" cy="39776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863840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63840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374건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7918704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 최다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985248" y="1783080"/>
            <a:ext cx="1938528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985248" y="1911096"/>
            <a:ext cx="1938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34.4%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10040112" y="25694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출퇴근 4시간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863840" y="3337560"/>
            <a:ext cx="40233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+81% 증가 (2021→2024)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유형: 출입문34%·역구내22%·열차내20%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다발역 = 혼잡 환승역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22960" y="5559552"/>
            <a:ext cx="8348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75%가 혼잡 직결 유형 — '혼잡=사고' 데이터로 확증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9262872" y="56144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2C14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+81%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9262872" y="60350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21→24 증가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94192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4" name="Text 2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· 구조적 원인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반복되나 — 노후 설비가 사고·장애를 키운다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56.5%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03504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21년 이상 노후 전동차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(기대수명 25~30년)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15968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15968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69.5%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4370832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내구연한 초과 전선로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(케이블 3,158km)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83296" y="1920240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83296" y="204825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+5.4%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138160" y="2706624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운행장애 증가('23년 136건)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신호장애 +31%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11091672" cy="1737360"/>
          </a:xfrm>
          <a:prstGeom prst="roundRect">
            <a:avLst>
              <a:gd name="adj" fmla="val 3684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노후가 장애의 절반 이상 — 그런데 교체는 진행 중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41605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운행장애 원인: 차량 부품 32.6% + 신호설비 등 20.9% = 절반 이상이 노후 설비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전동차 교체 사업: 2029년까지 총 3조 8,506억원 투입 (진행 중)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5559552"/>
            <a:ext cx="8348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설비 = 사고의 구조적 뿌리 → 예방정비·교체 예산이 근본 대책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62872" y="56144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F2C14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3.85조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262872" y="60350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교체 예산 규모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혼잡도 사고도 같은 곳(2호선·도심·출퇴근)에 몰린다</a:t>
            </a:r>
            <a:endParaRPr lang="en-US" sz="2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취약 지점 우선 투자 + 사고·수요 대응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2057400" cy="219456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373075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206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코로나 –27%→재혼잡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944368" y="3017520"/>
            <a:ext cx="2057400" cy="219456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4368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944368" y="373075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호선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035808" y="4206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2호선 압도(유의)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157216" y="3017520"/>
            <a:ext cx="2057400" cy="219456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157216" y="373075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시간대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48656" y="4206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08·18시 쌍봉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3017520"/>
            <a:ext cx="2057400" cy="219456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370064" y="373075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61504" y="4206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상위10%=28.5%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582912" y="3017520"/>
            <a:ext cx="2057400" cy="2194560"/>
          </a:xfrm>
          <a:prstGeom prst="roundRect">
            <a:avLst>
              <a:gd name="adj" fmla="val 3556"/>
            </a:avLst>
          </a:prstGeom>
          <a:solidFill>
            <a:srgbClr val="15304C"/>
          </a:solidFill>
          <a:ln w="12700">
            <a:solidFill>
              <a:srgbClr val="2C4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82912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582912" y="373075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74352" y="4206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08시·출퇴근 34.4%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5종이 하나의 결론을 가리킨다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277856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취약 지점에 우선 투자 + 사고·수요 대응 — 투트랙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783080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0F2B46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🚇 서울교통공사 (운영·실행)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27432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집중역(2호선·환승허브) 우선 혼잡 관리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사고·급정차 시 비상 혼잡 대응 프로토콜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신호·전기 설비 예방정비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집중역 동선·승강설비 개선, 피크 증차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45352" y="1783080"/>
            <a:ext cx="5394960" cy="3657600"/>
          </a:xfrm>
          <a:prstGeom prst="roundRect">
            <a:avLst>
              <a:gd name="adj" fmla="val 1750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45352" y="1783080"/>
            <a:ext cx="5394960" cy="731520"/>
          </a:xfrm>
          <a:prstGeom prst="roundRect">
            <a:avLst>
              <a:gd name="adj" fmla="val 8750"/>
            </a:avLst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6519672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🏛️ 국회 국토교통위 (입법·예산)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65392" y="27432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시차출퇴근·유연근무 인센티브 (수요 분산)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신호·전동차 교체 예산 확보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이상상황 대응 기준 법제화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광역교통·직주근접 도시계획 연계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주체(공사)와 제도·예산 주체(국회)가 함께 가야 완성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277856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6" name="Text 4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 · 정책 수단 메뉴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 분산 정책 카드 — 수요·공급·가격 3축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529584" cy="3566160"/>
          </a:xfrm>
          <a:prstGeom prst="roundRect">
            <a:avLst>
              <a:gd name="adj" fmla="val 181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3529584" cy="658368"/>
          </a:xfrm>
          <a:prstGeom prst="roundRect">
            <a:avLst>
              <a:gd name="adj" fmla="val 9722"/>
            </a:avLst>
          </a:prstGeom>
          <a:solidFill>
            <a:srgbClr val="457B9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28800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수요 관리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04672" y="269748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시차출퇴근·유연근무 장려금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공공기관 시차출퇴근 의무화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교통유발부담금 감면 (대형 빌딩)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61104" y="1828800"/>
            <a:ext cx="3529584" cy="3566160"/>
          </a:xfrm>
          <a:prstGeom prst="roundRect">
            <a:avLst>
              <a:gd name="adj" fmla="val 181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61104" y="1828800"/>
            <a:ext cx="3529584" cy="658368"/>
          </a:xfrm>
          <a:prstGeom prst="roundRect">
            <a:avLst>
              <a:gd name="adj" fmla="val 9722"/>
            </a:avLst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4261104" y="1828800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공급·하드웨어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17136" y="269748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의자 없는(접이식) 지하철 칸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급행·셔틀 탄력 배차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환승역 일방통행·동선 안내 고도화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73568" y="1828800"/>
            <a:ext cx="3529584" cy="3566160"/>
          </a:xfrm>
          <a:prstGeom prst="roundRect">
            <a:avLst>
              <a:gd name="adj" fmla="val 181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73568" y="1828800"/>
            <a:ext cx="3529584" cy="658368"/>
          </a:xfrm>
          <a:prstGeom prst="roundRect">
            <a:avLst>
              <a:gd name="adj" fmla="val 9722"/>
            </a:avLst>
          </a:prstGeom>
          <a:solidFill>
            <a:srgbClr val="F2C14E"/>
          </a:solidFill>
          <a:ln/>
        </p:spPr>
      </p:sp>
      <p:sp>
        <p:nvSpPr>
          <p:cNvPr id="20" name="Text 18"/>
          <p:cNvSpPr/>
          <p:nvPr/>
        </p:nvSpPr>
        <p:spPr>
          <a:xfrm>
            <a:off x="7973568" y="1828800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가격·기술 제어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0" y="269748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혼잡통행료·혼잡세 → 대중교통 재투자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혼잡도 연동 다이나믹 요금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급행/일반 요금 차등화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데이터의 피크(2호선·08·18시·도심)에 맞춰 정책 카드를 조합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1219688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· 해외 벤치마크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검증된 해법이 있다 — 해외 도시의 성과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싱가포르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신호(CBTC) 교체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신뢰성(MKBF)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1~10배 ↑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346704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46704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뉴욕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83864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도착·칸별 정보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38144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체감 대기시간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 ↓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44768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144768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런던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281928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4개선 현대화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3620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수송 용량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33% ↑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942832" y="1920240"/>
            <a:ext cx="2651760" cy="27432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42832" y="2148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홍콩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79992" y="2651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장애 벌과금→운임 환원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34272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정시율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99.9%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정보 + 노후 신호 교체 + 책임성(환원) = 입증된 조합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2360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394192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336024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77856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1219688" y="292608"/>
            <a:ext cx="896112" cy="329184"/>
          </a:xfrm>
          <a:prstGeom prst="roundRect">
            <a:avLst>
              <a:gd name="adj" fmla="val 13889"/>
            </a:avLst>
          </a:prstGeom>
          <a:solidFill>
            <a:srgbClr val="0F2B46"/>
          </a:solidFill>
          <a:ln/>
        </p:spPr>
      </p:sp>
      <p:sp>
        <p:nvSpPr>
          <p:cNvPr id="7" name="Text 5"/>
          <p:cNvSpPr/>
          <p:nvPr/>
        </p:nvSpPr>
        <p:spPr>
          <a:xfrm>
            <a:off x="11219688" y="292608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91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· Action Plan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단기·중기·장기 실행계획 (주체 · KPI)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97680"/>
                <a:gridCol w="13716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과제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KPI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집중역 실시간 혼잡·사고 안내 + 안전인력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교통공사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안전사고 0건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사고 비상 혼잡 대응 + 신호·전기 예방정비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교통공사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혼잡 해소시간↓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중기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시차출퇴근 인센티브 + 피크 증차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서울시·국회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피크 분산율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중기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노후 신호·전동차 교체 예산 + 안전기준 법제화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국회 국토위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사고 건수↓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광역교통·직주근접 도시계획 연계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국토부·서울시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도심 집중도↓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9006840" y="1783080"/>
            <a:ext cx="2743200" cy="3383280"/>
          </a:xfrm>
          <a:prstGeom prst="roundRect">
            <a:avLst>
              <a:gd name="adj" fmla="val 2333"/>
            </a:avLst>
          </a:prstGeom>
          <a:solidFill>
            <a:srgbClr val="EEF3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098280" y="1920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💸 경제 논리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00684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6394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81.3조원</a:t>
            </a:r>
            <a:endParaRPr lang="en-US" sz="2900" dirty="0"/>
          </a:p>
        </p:txBody>
      </p:sp>
      <p:sp>
        <p:nvSpPr>
          <p:cNvPr id="14" name="Text 11"/>
          <p:cNvSpPr/>
          <p:nvPr/>
        </p:nvSpPr>
        <p:spPr>
          <a:xfrm>
            <a:off x="9098280" y="30632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 교통혼잡비용 (GDP 3.37%, KOTI)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09828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효과(해외): 시차출퇴근 2% · 도쿄 5% · 싱가포르 7% 분산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5559552"/>
            <a:ext cx="11091672" cy="749808"/>
          </a:xfrm>
          <a:prstGeom prst="roundRect">
            <a:avLst>
              <a:gd name="adj" fmla="val 8537"/>
            </a:avLst>
          </a:prstGeom>
          <a:solidFill>
            <a:srgbClr val="0F2B46"/>
          </a:solidFill>
          <a:ln/>
          <a:effectLst>
            <a:outerShdw sx="100000" sy="100000" kx="0" ky="0" algn="bl" rotWithShape="0" blurRad="114300" dist="38100" dir="5400000">
              <a:srgbClr val="9AA7B8">
                <a:alpha val="2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22960" y="555955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💡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 완화 투자는 비용이 아니라 81.3조 손실을 줄이는 '회수'다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 지하철 혼잡·사고 분석 · 정책 제언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737360"/>
            <a:ext cx="106070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혼잡과 사고가 겹치는 취약 지점을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데이터로 짚었다.</a:t>
            </a:r>
            <a:endParaRPr lang="en-US" sz="2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이제 우선순위 투자로 안전을 지킬 차례다.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77240" y="49377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출처: 서울 열린데이터광장 · 공공데이터포털 · 한국교통연구원(KOTI) · YTN·MBC 보도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53492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2C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프레임: 바바라 민토 SCQA·피라미드 · 기초통계(ANOVA 등) · Claus Wilke 시각화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지하철 혼잡·사고 분석</dc:title>
  <dc:subject>PptxGenJS Presentation</dc:subject>
  <dc:creator>데이터분석팀</dc:creator>
  <cp:lastModifiedBy>데이터분석팀</cp:lastModifiedBy>
  <cp:revision>1</cp:revision>
  <dcterms:created xsi:type="dcterms:W3CDTF">2026-06-25T11:57:37Z</dcterms:created>
  <dcterms:modified xsi:type="dcterms:W3CDTF">2026-06-25T11:57:37Z</dcterms:modified>
</cp:coreProperties>
</file>